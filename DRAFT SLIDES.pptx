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g31a4f142772_0_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1a4f142772_0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GB" b="1">
                <a:solidFill>
                  <a:schemeClr val="dk1"/>
                </a:solidFill>
              </a:rPr>
              <a:t>Introduction</a:t>
            </a:r>
            <a:br>
              <a:rPr lang="en-GB" b="1">
                <a:solidFill>
                  <a:schemeClr val="dk1"/>
                </a:solidFill>
              </a:rPr>
            </a:br>
            <a:r>
              <a:rPr lang="en-GB">
                <a:solidFill>
                  <a:schemeClr val="dk1"/>
                </a:solidFill>
              </a:rPr>
              <a:t> Loneliness has become an increasingly prominent issue in modern society, influencing individuals' mental health and quality of life. This research employs a multi-method approach to identify optimal solutions for alleviating loneliness. Hypothesis testing is used to evaluate the effects of specific factors—such as pet ownership, social interactions, and group sports—on reducing loneliness. Decision tree classification models are applied to categorize individuals as "lonely" or "not lonely" based on various attributes. Finally, a clustering approach is utilized to determine which intervention strategy proves most effective for different groups. This comprehensive analysis aims to provide actionable recommendations to address loneliness in diverse societal contexts.</a:t>
            </a:r>
            <a:endParaRPr>
              <a:solidFill>
                <a:schemeClr val="dk1"/>
              </a:solidFill>
            </a:endParaRPr>
          </a:p>
          <a:p>
            <a:pPr marL="0" lvl="0" indent="0" algn="l" rtl="0">
              <a:spcBef>
                <a:spcPts val="120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62"/>
        <p:cNvGrpSpPr/>
        <p:nvPr/>
      </p:nvGrpSpPr>
      <p:grpSpPr>
        <a:xfrm>
          <a:off x="0" y="0"/>
          <a:ext cx="0" cy="0"/>
          <a:chOff x="0" y="0"/>
          <a:chExt cx="0" cy="0"/>
        </a:xfrm>
      </p:grpSpPr>
      <p:sp>
        <p:nvSpPr>
          <p:cNvPr id="63" name="Google Shape;63;g31881e130a6_2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1881e130a6_2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67"/>
        <p:cNvGrpSpPr/>
        <p:nvPr/>
      </p:nvGrpSpPr>
      <p:grpSpPr>
        <a:xfrm>
          <a:off x="0" y="0"/>
          <a:ext cx="0" cy="0"/>
          <a:chOff x="0" y="0"/>
          <a:chExt cx="0" cy="0"/>
        </a:xfrm>
      </p:grpSpPr>
      <p:sp>
        <p:nvSpPr>
          <p:cNvPr id="68" name="Google Shape;68;g31a4f142772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1a4f142772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g31a4f142772_1_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a4f142772_1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78"/>
        <p:cNvGrpSpPr/>
        <p:nvPr/>
      </p:nvGrpSpPr>
      <p:grpSpPr>
        <a:xfrm>
          <a:off x="0" y="0"/>
          <a:ext cx="0" cy="0"/>
          <a:chOff x="0" y="0"/>
          <a:chExt cx="0" cy="0"/>
        </a:xfrm>
      </p:grpSpPr>
      <p:sp>
        <p:nvSpPr>
          <p:cNvPr id="79" name="Google Shape;79;g31a1e19ad3f_1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1a1e19ad3f_1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g31a1e19ad3f_3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1a1e19ad3f_3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g31a1e19ad3f_3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1a1e19ad3f_3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g31a4f142772_1_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1a4f142772_1_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g31a4f142772_1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1a4f142772_1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g31a1e19ad3f_3_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1a1e19ad3f_3_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g31a1e19ad3f_3_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1a1e19ad3f_3_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 name="Shape 119"/>
        <p:cNvGrpSpPr/>
        <p:nvPr/>
      </p:nvGrpSpPr>
      <p:grpSpPr>
        <a:xfrm>
          <a:off x="0" y="0"/>
          <a:ext cx="0" cy="0"/>
          <a:chOff x="0" y="0"/>
          <a:chExt cx="0" cy="0"/>
        </a:xfrm>
      </p:grpSpPr>
      <p:sp>
        <p:nvSpPr>
          <p:cNvPr id="120" name="Google Shape;120;g31a1e19ad3f_3_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1a1e19ad3f_3_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g31881e130a6_2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1881e130a6_2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g31881e130a6_2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1881e130a6_2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1881e130a6_2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1881e130a6_2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g31881e130a6_2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1881e130a6_2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g31881e130a6_2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1881e130a6_2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g31881e130a6_2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1881e130a6_2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31881e130a6_2_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1881e130a6_2_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g31881e130a6_2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1881e130a6_2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g31881e130a6_2_5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1881e130a6_2_5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g31881e130a6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1881e130a6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g31881e130a6_2_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1881e130a6_2_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g31881e130a6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1881e130a6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nvSpPr>
        <p:spPr>
          <a:xfrm>
            <a:off x="288950" y="652825"/>
            <a:ext cx="8551200" cy="18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4800">
                <a:solidFill>
                  <a:schemeClr val="dk2"/>
                </a:solidFill>
              </a:rPr>
              <a:t>What are some of the best ways to mitigate loneliness in the modern society?</a:t>
            </a:r>
            <a:endParaRPr sz="4800">
              <a:solidFill>
                <a:schemeClr val="dk2"/>
              </a:solidFill>
            </a:endParaRPr>
          </a:p>
        </p:txBody>
      </p:sp>
      <p:sp>
        <p:nvSpPr>
          <p:cNvPr id="55" name="Google Shape;55;p13"/>
          <p:cNvSpPr txBox="1"/>
          <p:nvPr/>
        </p:nvSpPr>
        <p:spPr>
          <a:xfrm>
            <a:off x="252150" y="3080675"/>
            <a:ext cx="8639700" cy="81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a:solidFill>
                  <a:schemeClr val="dk2"/>
                </a:solidFill>
              </a:rPr>
              <a:t>By: Abhinn Kaushik, </a:t>
            </a:r>
            <a:r>
              <a:rPr lang="en-GB" sz="2400">
                <a:solidFill>
                  <a:schemeClr val="dk2"/>
                </a:solidFill>
              </a:rPr>
              <a:t>Xu</a:t>
            </a:r>
            <a:r>
              <a:rPr lang="en-GB" sz="2400">
                <a:solidFill>
                  <a:schemeClr val="dk2"/>
                </a:solidFill>
              </a:rPr>
              <a:t>jia </a:t>
            </a:r>
            <a:r>
              <a:rPr lang="en-GB" sz="2400">
                <a:solidFill>
                  <a:schemeClr val="dk2"/>
                </a:solidFill>
              </a:rPr>
              <a:t>Shen</a:t>
            </a:r>
            <a:r>
              <a:rPr lang="en-GB" sz="2400">
                <a:solidFill>
                  <a:schemeClr val="dk2"/>
                </a:solidFill>
              </a:rPr>
              <a:t>, Yifan Qiu, Yongjun Du</a:t>
            </a:r>
            <a:endParaRPr sz="2400">
              <a:solidFill>
                <a:schemeClr val="dk2"/>
              </a:solidFill>
            </a:endParaRPr>
          </a:p>
          <a:p>
            <a:pPr marL="0" lvl="0" indent="0" algn="ctr" rtl="0">
              <a:spcBef>
                <a:spcPts val="0"/>
              </a:spcBef>
              <a:spcAft>
                <a:spcPts val="0"/>
              </a:spcAft>
              <a:buNone/>
            </a:pPr>
            <a:r>
              <a:rPr lang="en-GB">
                <a:solidFill>
                  <a:schemeClr val="dk2"/>
                </a:solidFill>
              </a:rPr>
              <a:t>*The names are listed in alphabetical order and do not reflect the extent of individual contributions.</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42478" y="0"/>
            <a:ext cx="5792400" cy="137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3600" b="1">
                <a:latin typeface="Times"/>
                <a:ea typeface="Times"/>
                <a:cs typeface="Times"/>
                <a:sym typeface="Times"/>
              </a:rPr>
              <a:t>Introduction</a:t>
            </a:r>
            <a:endParaRPr sz="3600" b="1">
              <a:latin typeface="Times"/>
              <a:ea typeface="Times"/>
              <a:cs typeface="Times"/>
              <a:sym typeface="Times"/>
            </a:endParaRPr>
          </a:p>
        </p:txBody>
      </p:sp>
      <p:sp>
        <p:nvSpPr>
          <p:cNvPr id="61" name="Google Shape;61;p14"/>
          <p:cNvSpPr txBox="1"/>
          <p:nvPr/>
        </p:nvSpPr>
        <p:spPr>
          <a:xfrm>
            <a:off x="192625" y="1433600"/>
            <a:ext cx="8490900" cy="3976500"/>
          </a:xfrm>
          <a:prstGeom prst="rect">
            <a:avLst/>
          </a:prstGeom>
          <a:noFill/>
          <a:ln>
            <a:noFill/>
          </a:ln>
        </p:spPr>
        <p:txBody>
          <a:bodyPr spcFirstLastPara="1" wrap="square" lIns="91425" tIns="91425" rIns="91425" bIns="91425" anchor="t" anchorCtr="0">
            <a:noAutofit/>
          </a:bodyPr>
          <a:lstStyle/>
          <a:p>
            <a:pPr marL="0" lvl="0" indent="640080" algn="just" rtl="0">
              <a:spcBef>
                <a:spcPts val="0"/>
              </a:spcBef>
              <a:spcAft>
                <a:spcPts val="0"/>
              </a:spcAft>
              <a:buNone/>
            </a:pPr>
            <a:r>
              <a:rPr lang="en-GB" sz="2400">
                <a:solidFill>
                  <a:schemeClr val="dk2"/>
                </a:solidFill>
              </a:rPr>
              <a:t>Loneliness has become an increasingly prominent issue in modern society, influencing individuals' mental health and quality of life. This research employs a multi-method approach to identify optimal solutions for alleviating loneliness. This aims to provide actionable recommendations to address loneliness in diverse societal contexts.</a:t>
            </a:r>
            <a:endParaRPr sz="24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5" name="Shape 65"/>
        <p:cNvGrpSpPr/>
        <p:nvPr/>
      </p:nvGrpSpPr>
      <p:grpSpPr>
        <a:xfrm>
          <a:off x="0" y="0"/>
          <a:ext cx="0" cy="0"/>
          <a:chOff x="0" y="0"/>
          <a:chExt cx="0" cy="0"/>
        </a:xfrm>
      </p:grpSpPr>
      <p:sp>
        <p:nvSpPr>
          <p:cNvPr id="66" name="Google Shape;66;p15"/>
          <p:cNvSpPr txBox="1"/>
          <p:nvPr>
            <p:ph type="subTitle" idx="1"/>
          </p:nvPr>
        </p:nvSpPr>
        <p:spPr>
          <a:xfrm>
            <a:off x="396850" y="382575"/>
            <a:ext cx="8003100" cy="3941100"/>
          </a:xfrm>
          <a:prstGeom prst="rect">
            <a:avLst/>
          </a:prstGeom>
        </p:spPr>
        <p:txBody>
          <a:bodyPr spcFirstLastPara="1" wrap="square" lIns="91425" tIns="91425" rIns="91425" bIns="91425" anchor="t" anchorCtr="0">
            <a:noAutofit/>
          </a:bodyPr>
          <a:lstStyle/>
          <a:p>
            <a:pPr marL="0" lvl="0" indent="0" algn="l" rtl="0">
              <a:lnSpc>
                <a:spcPct val="115000"/>
              </a:lnSpc>
              <a:spcBef>
                <a:spcPts val="1500"/>
              </a:spcBef>
              <a:spcAft>
                <a:spcPts val="0"/>
              </a:spcAft>
              <a:buSzPts val="440"/>
              <a:buNone/>
            </a:pPr>
            <a:r>
              <a:rPr lang="en-GB" sz="1320"/>
              <a:t>Dependent variable: loneliness</a:t>
            </a:r>
            <a:br>
              <a:rPr lang="en-GB" sz="1320"/>
            </a:br>
            <a:r>
              <a:rPr lang="en-GB" sz="1320"/>
              <a:t>Independent Variables: Own pets, Social interaction </a:t>
            </a:r>
            <a:r>
              <a:rPr lang="en-GB" sz="1320"/>
              <a:t>frequency, age</a:t>
            </a:r>
            <a:endParaRPr sz="1320"/>
          </a:p>
          <a:p>
            <a:pPr marL="0" lvl="0" indent="0" algn="l" rtl="0">
              <a:lnSpc>
                <a:spcPct val="115000"/>
              </a:lnSpc>
              <a:spcBef>
                <a:spcPts val="1500"/>
              </a:spcBef>
              <a:spcAft>
                <a:spcPts val="0"/>
              </a:spcAft>
              <a:buSzPts val="440"/>
              <a:buNone/>
            </a:pPr>
            <a:r>
              <a:rPr lang="en-GB" sz="1320"/>
              <a:t>Step 1: What types of people tend to feel more lonely?</a:t>
            </a:r>
            <a:endParaRPr sz="1320"/>
          </a:p>
          <a:p>
            <a:pPr marL="0" lvl="0" indent="0" algn="l" rtl="0">
              <a:lnSpc>
                <a:spcPct val="115000"/>
              </a:lnSpc>
              <a:spcBef>
                <a:spcPts val="1500"/>
              </a:spcBef>
              <a:spcAft>
                <a:spcPts val="0"/>
              </a:spcAft>
              <a:buSzPts val="440"/>
              <a:buNone/>
            </a:pPr>
            <a:r>
              <a:rPr lang="en-GB" sz="1320"/>
              <a:t>Dependent variable: loneliness, independent variables: age, immigration, gender,indigenous, etc. -&gt; Find out what types of people tend to feel more lonelier BMW(example question: Do the elderly tend to feel more lonelier?)</a:t>
            </a:r>
            <a:endParaRPr sz="1320"/>
          </a:p>
          <a:p>
            <a:pPr marL="0" lvl="0" indent="0" algn="l" rtl="0">
              <a:lnSpc>
                <a:spcPct val="115000"/>
              </a:lnSpc>
              <a:spcBef>
                <a:spcPts val="1500"/>
              </a:spcBef>
              <a:spcAft>
                <a:spcPts val="0"/>
              </a:spcAft>
              <a:buSzPts val="440"/>
              <a:buNone/>
            </a:pPr>
            <a:r>
              <a:rPr lang="en-GB" sz="1320"/>
              <a:t>Step 2: Do some of the *commonly-used* ways to counter loneliness actually work?</a:t>
            </a:r>
            <a:endParaRPr sz="1320"/>
          </a:p>
          <a:p>
            <a:pPr marL="0" lvl="0" indent="0" algn="l" rtl="0">
              <a:lnSpc>
                <a:spcPct val="115000"/>
              </a:lnSpc>
              <a:spcBef>
                <a:spcPts val="1500"/>
              </a:spcBef>
              <a:spcAft>
                <a:spcPts val="0"/>
              </a:spcAft>
              <a:buSzPts val="440"/>
              <a:buNone/>
            </a:pPr>
            <a:r>
              <a:rPr lang="en-GB" sz="1320"/>
              <a:t>Dependent variable: loneliness, independent variables: pets, social interaction, exercises -&gt; Goals: Find out whether certain methods work </a:t>
            </a:r>
            <a:endParaRPr sz="1320"/>
          </a:p>
          <a:p>
            <a:pPr marL="0" lvl="0" indent="0" algn="l" rtl="0">
              <a:lnSpc>
                <a:spcPct val="115000"/>
              </a:lnSpc>
              <a:spcBef>
                <a:spcPts val="1500"/>
              </a:spcBef>
              <a:spcAft>
                <a:spcPts val="0"/>
              </a:spcAft>
              <a:buSzPts val="440"/>
              <a:buNone/>
            </a:pPr>
            <a:r>
              <a:rPr lang="en-GB" sz="1320"/>
              <a:t>Pets, exercise, </a:t>
            </a:r>
            <a:endParaRPr sz="1320"/>
          </a:p>
          <a:p>
            <a:pPr marL="0" lvl="0" indent="0" algn="l" rtl="0">
              <a:lnSpc>
                <a:spcPct val="115000"/>
              </a:lnSpc>
              <a:spcBef>
                <a:spcPts val="1500"/>
              </a:spcBef>
              <a:spcAft>
                <a:spcPts val="1500"/>
              </a:spcAft>
              <a:buSzPts val="440"/>
              <a:buNone/>
            </a:pPr>
            <a:r>
              <a:rPr lang="en-GB" sz="1320"/>
              <a:t>Step 3: What is the most effective method among all effective methods identified through question 2?</a:t>
            </a:r>
            <a:endParaRPr sz="132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0" name="Shape 70"/>
        <p:cNvGrpSpPr/>
        <p:nvPr/>
      </p:nvGrpSpPr>
      <p:grpSpPr>
        <a:xfrm>
          <a:off x="0" y="0"/>
          <a:ext cx="0" cy="0"/>
          <a:chOff x="0" y="0"/>
          <a:chExt cx="0" cy="0"/>
        </a:xfrm>
      </p:grpSpPr>
      <p:sp>
        <p:nvSpPr>
          <p:cNvPr id="71" name="Google Shape;71;p16"/>
          <p:cNvSpPr txBox="1"/>
          <p:nvPr>
            <p:ph type="subTitle" idx="1"/>
          </p:nvPr>
        </p:nvSpPr>
        <p:spPr>
          <a:xfrm>
            <a:off x="235550" y="809450"/>
            <a:ext cx="8520600" cy="3081000"/>
          </a:xfrm>
          <a:prstGeom prst="rect">
            <a:avLst/>
          </a:prstGeom>
        </p:spPr>
        <p:txBody>
          <a:bodyPr spcFirstLastPara="1" wrap="square" lIns="91425" tIns="91425" rIns="91425" bIns="91425" anchor="t" anchorCtr="0">
            <a:noAutofit/>
          </a:bodyPr>
          <a:lstStyle/>
          <a:p>
            <a:pPr marL="0" lvl="0" indent="0" algn="l" rtl="0">
              <a:lnSpc>
                <a:spcPct val="95000"/>
              </a:lnSpc>
              <a:spcBef>
                <a:spcPts val="1200"/>
              </a:spcBef>
              <a:spcAft>
                <a:spcPts val="0"/>
              </a:spcAft>
              <a:buSzPts val="770"/>
              <a:buNone/>
            </a:pPr>
            <a:r>
              <a:rPr lang="en-GB" sz="1770" b="1">
                <a:solidFill>
                  <a:schemeClr val="dk1"/>
                </a:solidFill>
              </a:rPr>
              <a:t>For Q1:</a:t>
            </a:r>
            <a:endParaRPr sz="1770" b="1">
              <a:solidFill>
                <a:schemeClr val="dk1"/>
              </a:solidFill>
            </a:endParaRPr>
          </a:p>
          <a:p>
            <a:pPr marL="0" lvl="0" indent="0" algn="l" rtl="0">
              <a:lnSpc>
                <a:spcPct val="95000"/>
              </a:lnSpc>
              <a:spcBef>
                <a:spcPts val="1200"/>
              </a:spcBef>
              <a:spcAft>
                <a:spcPts val="0"/>
              </a:spcAft>
              <a:buSzPts val="770"/>
              <a:buNone/>
            </a:pPr>
            <a:r>
              <a:rPr lang="en-GB" sz="1500" b="1">
                <a:solidFill>
                  <a:schemeClr val="dk1"/>
                </a:solidFill>
              </a:rPr>
              <a:t>1</a:t>
            </a:r>
            <a:r>
              <a:rPr lang="en-GB" sz="1500" b="1">
                <a:solidFill>
                  <a:schemeClr val="dk1"/>
                </a:solidFill>
              </a:rPr>
              <a:t>. Handling Missing Values</a:t>
            </a:r>
            <a:endParaRPr sz="1500" b="1">
              <a:solidFill>
                <a:schemeClr val="dk1"/>
              </a:solidFill>
            </a:endParaRPr>
          </a:p>
          <a:p>
            <a:pPr marL="0" lvl="0" indent="0" algn="l" rtl="0">
              <a:lnSpc>
                <a:spcPct val="95000"/>
              </a:lnSpc>
              <a:spcBef>
                <a:spcPts val="1200"/>
              </a:spcBef>
              <a:spcAft>
                <a:spcPts val="0"/>
              </a:spcAft>
              <a:buNone/>
            </a:pPr>
            <a:r>
              <a:rPr lang="en-GB" sz="1500">
                <a:solidFill>
                  <a:schemeClr val="dk1"/>
                </a:solidFill>
              </a:rPr>
              <a:t>Age (DEMO_age)&amp;</a:t>
            </a:r>
            <a:r>
              <a:rPr lang="en-US" altLang="en-GB" sz="1500">
                <a:solidFill>
                  <a:schemeClr val="dk1"/>
                </a:solidFill>
              </a:rPr>
              <a:t> Gender</a:t>
            </a:r>
            <a:r>
              <a:rPr lang="en-GB" sz="1500">
                <a:solidFill>
                  <a:schemeClr val="dk1"/>
                </a:solidFill>
                <a:sym typeface="+mn-ea"/>
              </a:rPr>
              <a:t>(DEMO_</a:t>
            </a:r>
            <a:r>
              <a:rPr lang="en-US" altLang="en-GB" sz="1500">
                <a:solidFill>
                  <a:schemeClr val="dk1"/>
                </a:solidFill>
                <a:sym typeface="+mn-ea"/>
              </a:rPr>
              <a:t>gender</a:t>
            </a:r>
            <a:r>
              <a:rPr lang="en-GB" sz="1500">
                <a:solidFill>
                  <a:schemeClr val="dk1"/>
                </a:solidFill>
                <a:sym typeface="+mn-ea"/>
              </a:rPr>
              <a:t>)</a:t>
            </a:r>
            <a:r>
              <a:rPr lang="en-GB" sz="1500">
                <a:solidFill>
                  <a:schemeClr val="dk1"/>
                </a:solidFill>
              </a:rPr>
              <a:t> : Missing values were remove</a:t>
            </a:r>
            <a:r>
              <a:rPr lang="en-GB" sz="1500">
                <a:solidFill>
                  <a:schemeClr val="dk1"/>
                </a:solidFill>
              </a:rPr>
              <a:t>d</a:t>
            </a:r>
            <a:r>
              <a:rPr lang="en-GB" sz="1500">
                <a:solidFill>
                  <a:schemeClr val="dk1"/>
                </a:solidFill>
              </a:rPr>
              <a:t>. </a:t>
            </a:r>
            <a:endParaRPr sz="1500">
              <a:solidFill>
                <a:schemeClr val="dk1"/>
              </a:solidFill>
            </a:endParaRPr>
          </a:p>
          <a:p>
            <a:pPr marL="0" lvl="0" indent="0" algn="l" rtl="0">
              <a:lnSpc>
                <a:spcPct val="95000"/>
              </a:lnSpc>
              <a:spcBef>
                <a:spcPts val="1200"/>
              </a:spcBef>
              <a:spcAft>
                <a:spcPts val="0"/>
              </a:spcAft>
              <a:buNone/>
            </a:pPr>
            <a:r>
              <a:rPr lang="en-GB" sz="1500">
                <a:solidFill>
                  <a:schemeClr val="dk1"/>
                </a:solidFill>
              </a:rPr>
              <a:t>DEMO_identity_lgbtq and DEMO_identity_newcomer: For both of these categorical variables "Not selected" is recorded as “Not LGBTQ” and “Not Newcomers”</a:t>
            </a:r>
            <a:endParaRPr sz="1500">
              <a:solidFill>
                <a:schemeClr val="dk1"/>
              </a:solidFill>
            </a:endParaRPr>
          </a:p>
          <a:p>
            <a:pPr marL="0" lvl="0" indent="0" algn="l" rtl="0">
              <a:lnSpc>
                <a:spcPct val="95000"/>
              </a:lnSpc>
              <a:spcBef>
                <a:spcPts val="1200"/>
              </a:spcBef>
              <a:spcAft>
                <a:spcPts val="0"/>
              </a:spcAft>
              <a:buNone/>
            </a:pPr>
            <a:r>
              <a:rPr lang="en-GB" sz="1500" b="1">
                <a:solidFill>
                  <a:schemeClr val="dk1"/>
                </a:solidFill>
              </a:rPr>
              <a:t>2. Creation of the Target Variable: </a:t>
            </a:r>
            <a:endParaRPr sz="1500" b="1">
              <a:solidFill>
                <a:schemeClr val="dk1"/>
              </a:solidFill>
            </a:endParaRPr>
          </a:p>
          <a:p>
            <a:pPr marL="0" lvl="0" indent="0" algn="l" rtl="0">
              <a:lnSpc>
                <a:spcPct val="95000"/>
              </a:lnSpc>
              <a:spcBef>
                <a:spcPts val="1200"/>
              </a:spcBef>
              <a:spcAft>
                <a:spcPts val="0"/>
              </a:spcAft>
              <a:buNone/>
            </a:pPr>
            <a:r>
              <a:rPr lang="en-GB" sz="1500" b="1">
                <a:solidFill>
                  <a:schemeClr val="dk1"/>
                </a:solidFill>
              </a:rPr>
              <a:t>LONELY_ucla_loneliness_scale_score</a:t>
            </a:r>
            <a:r>
              <a:rPr lang="en-GB" sz="1500">
                <a:solidFill>
                  <a:schemeClr val="dk1"/>
                </a:solidFill>
              </a:rPr>
              <a:t>: </a:t>
            </a:r>
            <a:endParaRPr sz="1500">
              <a:solidFill>
                <a:schemeClr val="dk1"/>
              </a:solidFill>
            </a:endParaRPr>
          </a:p>
          <a:p>
            <a:pPr marL="0" lvl="0" indent="0" algn="l" rtl="0">
              <a:lnSpc>
                <a:spcPct val="95000"/>
              </a:lnSpc>
              <a:spcBef>
                <a:spcPts val="1200"/>
              </a:spcBef>
              <a:spcAft>
                <a:spcPts val="0"/>
              </a:spcAft>
              <a:buNone/>
            </a:pPr>
            <a:r>
              <a:rPr lang="en-GB" sz="1500">
                <a:solidFill>
                  <a:schemeClr val="dk1"/>
                </a:solidFill>
              </a:rPr>
              <a:t>We transformed this continuous variable into a binary classification variable —— </a:t>
            </a:r>
            <a:r>
              <a:rPr lang="en-GB" sz="1500" b="1">
                <a:solidFill>
                  <a:schemeClr val="dk1"/>
                </a:solidFill>
              </a:rPr>
              <a:t>LONELY_status</a:t>
            </a:r>
            <a:endParaRPr sz="1500" b="1">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GB" sz="1500">
                <a:solidFill>
                  <a:schemeClr val="dk1"/>
                </a:solidFill>
              </a:rPr>
              <a:t>Scores ranging from </a:t>
            </a:r>
            <a:r>
              <a:rPr lang="en-GB" sz="1500" b="1">
                <a:solidFill>
                  <a:schemeClr val="dk1"/>
                </a:solidFill>
              </a:rPr>
              <a:t>3 to 5</a:t>
            </a:r>
            <a:r>
              <a:rPr lang="en-GB" sz="1500">
                <a:solidFill>
                  <a:schemeClr val="dk1"/>
                </a:solidFill>
              </a:rPr>
              <a:t> ——</a:t>
            </a:r>
            <a:r>
              <a:rPr lang="en-GB" sz="1500" b="1">
                <a:solidFill>
                  <a:schemeClr val="dk1"/>
                </a:solidFill>
              </a:rPr>
              <a:t>"Not Lonely"</a:t>
            </a:r>
            <a:r>
              <a:rPr lang="en-GB" sz="1500">
                <a:solidFill>
                  <a:schemeClr val="dk1"/>
                </a:solidFill>
              </a:rPr>
              <a:t>.</a:t>
            </a:r>
            <a:endParaRPr sz="1500">
              <a:solidFill>
                <a:schemeClr val="dk1"/>
              </a:solidFill>
            </a:endParaRPr>
          </a:p>
          <a:p>
            <a:pPr marL="0" lvl="0" indent="0" algn="l" rtl="0">
              <a:lnSpc>
                <a:spcPct val="95000"/>
              </a:lnSpc>
              <a:spcBef>
                <a:spcPts val="1200"/>
              </a:spcBef>
              <a:spcAft>
                <a:spcPts val="0"/>
              </a:spcAft>
              <a:buNone/>
            </a:pPr>
            <a:r>
              <a:rPr lang="en-GB" sz="1500">
                <a:solidFill>
                  <a:schemeClr val="dk1"/>
                </a:solidFill>
              </a:rPr>
              <a:t>Scores ranging from </a:t>
            </a:r>
            <a:r>
              <a:rPr lang="en-GB" sz="1500" b="1">
                <a:solidFill>
                  <a:schemeClr val="dk1"/>
                </a:solidFill>
              </a:rPr>
              <a:t>6 to 9</a:t>
            </a:r>
            <a:r>
              <a:rPr lang="en-GB" sz="1500">
                <a:solidFill>
                  <a:schemeClr val="dk1"/>
                </a:solidFill>
              </a:rPr>
              <a:t> ——</a:t>
            </a:r>
            <a:r>
              <a:rPr lang="en-GB" sz="1500" b="1">
                <a:solidFill>
                  <a:schemeClr val="dk1"/>
                </a:solidFill>
              </a:rPr>
              <a:t>"Lonely"</a:t>
            </a:r>
            <a:r>
              <a:rPr lang="en-GB" sz="1500">
                <a:solidFill>
                  <a:schemeClr val="dk1"/>
                </a:solidFill>
              </a:rPr>
              <a:t>.</a:t>
            </a:r>
            <a:endParaRPr sz="1500">
              <a:solidFill>
                <a:schemeClr val="dk1"/>
              </a:solidFill>
            </a:endParaRPr>
          </a:p>
          <a:p>
            <a:pPr marL="0" lvl="0" indent="0" algn="l" rtl="0">
              <a:lnSpc>
                <a:spcPct val="115000"/>
              </a:lnSpc>
              <a:spcBef>
                <a:spcPts val="1200"/>
              </a:spcBef>
              <a:spcAft>
                <a:spcPts val="1200"/>
              </a:spcAft>
              <a:buNone/>
            </a:pPr>
            <a:endParaRPr sz="1500">
              <a:solidFill>
                <a:schemeClr val="dk1"/>
              </a:solidFill>
            </a:endParaRPr>
          </a:p>
        </p:txBody>
      </p:sp>
      <p:sp>
        <p:nvSpPr>
          <p:cNvPr id="72" name="Google Shape;72;p16"/>
          <p:cNvSpPr txBox="1"/>
          <p:nvPr/>
        </p:nvSpPr>
        <p:spPr>
          <a:xfrm>
            <a:off x="235550" y="272325"/>
            <a:ext cx="412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b="1">
                <a:solidFill>
                  <a:schemeClr val="dk1"/>
                </a:solidFill>
              </a:rPr>
              <a:t>Data Summary</a:t>
            </a:r>
            <a:endParaRPr sz="18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6" name="Shape 76"/>
        <p:cNvGrpSpPr/>
        <p:nvPr/>
      </p:nvGrpSpPr>
      <p:grpSpPr>
        <a:xfrm>
          <a:off x="0" y="0"/>
          <a:ext cx="0" cy="0"/>
          <a:chOff x="0" y="0"/>
          <a:chExt cx="0" cy="0"/>
        </a:xfrm>
      </p:grpSpPr>
      <p:sp>
        <p:nvSpPr>
          <p:cNvPr id="77" name="Google Shape;77;p17"/>
          <p:cNvSpPr txBox="1"/>
          <p:nvPr>
            <p:ph type="ctrTitle"/>
          </p:nvPr>
        </p:nvSpPr>
        <p:spPr>
          <a:xfrm>
            <a:off x="133375" y="196500"/>
            <a:ext cx="8520600" cy="5051400"/>
          </a:xfrm>
          <a:prstGeom prst="rect">
            <a:avLst/>
          </a:prstGeom>
        </p:spPr>
        <p:txBody>
          <a:bodyPr spcFirstLastPara="1" wrap="square" lIns="91425" tIns="91425" rIns="91425" bIns="91425" anchor="b" anchorCtr="0">
            <a:normAutofit fontScale="90000"/>
          </a:bodyPr>
          <a:lstStyle/>
          <a:p>
            <a:pPr marL="0" lvl="0" indent="0" algn="l" rtl="0">
              <a:lnSpc>
                <a:spcPct val="100000"/>
              </a:lnSpc>
              <a:spcBef>
                <a:spcPts val="1200"/>
              </a:spcBef>
              <a:spcAft>
                <a:spcPts val="0"/>
              </a:spcAft>
              <a:buNone/>
            </a:pPr>
            <a:r>
              <a:rPr lang="en-GB" sz="1990" b="1"/>
              <a:t>For Q2&amp;3</a:t>
            </a:r>
            <a:endParaRPr sz="1990" b="1"/>
          </a:p>
          <a:p>
            <a:pPr marL="0" lvl="0" indent="0" algn="l" rtl="0">
              <a:lnSpc>
                <a:spcPct val="100000"/>
              </a:lnSpc>
              <a:spcBef>
                <a:spcPts val="1200"/>
              </a:spcBef>
              <a:spcAft>
                <a:spcPts val="0"/>
              </a:spcAft>
              <a:buNone/>
            </a:pPr>
            <a:r>
              <a:rPr lang="en-GB" sz="1660" b="1"/>
              <a:t>Dependent variables</a:t>
            </a:r>
            <a:r>
              <a:rPr lang="en-GB" sz="1660"/>
              <a:t>: </a:t>
            </a:r>
            <a:endParaRPr sz="1660"/>
          </a:p>
          <a:p>
            <a:pPr marL="0" lvl="0" indent="0" algn="l" rtl="0">
              <a:lnSpc>
                <a:spcPct val="100000"/>
              </a:lnSpc>
              <a:spcBef>
                <a:spcPts val="1200"/>
              </a:spcBef>
              <a:spcAft>
                <a:spcPts val="0"/>
              </a:spcAft>
              <a:buNone/>
            </a:pPr>
            <a:r>
              <a:rPr lang="en-GB" sz="1660"/>
              <a:t>“</a:t>
            </a:r>
            <a:r>
              <a:rPr lang="en-GB" sz="1660"/>
              <a:t>GEO_housing_live_with_dogs” and “GEO_housing_live_with_cats”,</a:t>
            </a:r>
            <a:endParaRPr sz="1660"/>
          </a:p>
          <a:p>
            <a:pPr marL="0" lvl="0" indent="0" algn="l" rtl="0">
              <a:lnSpc>
                <a:spcPct val="100000"/>
              </a:lnSpc>
              <a:spcBef>
                <a:spcPts val="1200"/>
              </a:spcBef>
              <a:spcAft>
                <a:spcPts val="0"/>
              </a:spcAft>
              <a:buNone/>
            </a:pPr>
            <a:r>
              <a:rPr lang="en-GB" sz="1660"/>
              <a:t>“CONNECTION_activities_talked_day_p3m”, </a:t>
            </a:r>
            <a:endParaRPr sz="1660"/>
          </a:p>
          <a:p>
            <a:pPr marL="0" lvl="0" indent="0" algn="l" rtl="0">
              <a:lnSpc>
                <a:spcPct val="100000"/>
              </a:lnSpc>
              <a:spcBef>
                <a:spcPts val="1200"/>
              </a:spcBef>
              <a:spcAft>
                <a:spcPts val="0"/>
              </a:spcAft>
              <a:buNone/>
            </a:pPr>
            <a:r>
              <a:rPr lang="en-GB" sz="1660"/>
              <a:t>“CONNECTION_activities_group_exercise_p3m”</a:t>
            </a:r>
            <a:endParaRPr sz="1660"/>
          </a:p>
          <a:p>
            <a:pPr marL="0" lvl="0" indent="0" algn="l" rtl="0">
              <a:lnSpc>
                <a:spcPct val="100000"/>
              </a:lnSpc>
              <a:spcBef>
                <a:spcPts val="1200"/>
              </a:spcBef>
              <a:spcAft>
                <a:spcPts val="0"/>
              </a:spcAft>
              <a:buNone/>
            </a:pPr>
            <a:r>
              <a:rPr lang="en-GB" sz="1660" b="1"/>
              <a:t>Independent variables</a:t>
            </a:r>
            <a:r>
              <a:rPr lang="en-GB" sz="1660"/>
              <a:t>:  </a:t>
            </a:r>
            <a:r>
              <a:rPr lang="en-GB" sz="1660"/>
              <a:t>LONELY_ucla_loneliness_scale_score</a:t>
            </a:r>
            <a:endParaRPr sz="1660"/>
          </a:p>
          <a:p>
            <a:pPr marL="0" lvl="0" indent="0" algn="l" rtl="0">
              <a:lnSpc>
                <a:spcPct val="100000"/>
              </a:lnSpc>
              <a:spcBef>
                <a:spcPts val="1200"/>
              </a:spcBef>
              <a:spcAft>
                <a:spcPts val="0"/>
              </a:spcAft>
              <a:buNone/>
            </a:pPr>
            <a:endParaRPr sz="1660"/>
          </a:p>
          <a:p>
            <a:pPr marL="0" lvl="0" indent="0" algn="l" rtl="0">
              <a:lnSpc>
                <a:spcPct val="115000"/>
              </a:lnSpc>
              <a:spcBef>
                <a:spcPts val="1200"/>
              </a:spcBef>
              <a:spcAft>
                <a:spcPts val="0"/>
              </a:spcAft>
              <a:buNone/>
            </a:pPr>
            <a:r>
              <a:rPr lang="en-GB" sz="1660" b="1"/>
              <a:t>First, we removed all of the missing values for our variables </a:t>
            </a:r>
            <a:endParaRPr sz="1660" b="1"/>
          </a:p>
          <a:p>
            <a:pPr marL="0" lvl="0" indent="0" algn="l" rtl="0">
              <a:lnSpc>
                <a:spcPct val="115000"/>
              </a:lnSpc>
              <a:spcBef>
                <a:spcPts val="1200"/>
              </a:spcBef>
              <a:spcAft>
                <a:spcPts val="0"/>
              </a:spcAft>
              <a:buNone/>
            </a:pPr>
            <a:r>
              <a:rPr lang="en-GB" sz="1660"/>
              <a:t>Then</a:t>
            </a:r>
            <a:r>
              <a:rPr lang="en-GB" sz="1660" b="1"/>
              <a:t> </a:t>
            </a:r>
            <a:r>
              <a:rPr lang="en-GB" sz="1660"/>
              <a:t>we combined these columns </a:t>
            </a:r>
            <a:r>
              <a:rPr lang="en-GB" sz="1660" b="1"/>
              <a:t>GEO_housing_live_with_dogs</a:t>
            </a:r>
            <a:r>
              <a:rPr lang="en-GB" sz="1660"/>
              <a:t> and </a:t>
            </a:r>
            <a:r>
              <a:rPr lang="en-GB" sz="1660" b="1"/>
              <a:t>GEO_housing_live_with_cats</a:t>
            </a:r>
            <a:r>
              <a:rPr lang="en-GB" sz="1660"/>
              <a:t> </a:t>
            </a:r>
            <a:r>
              <a:rPr lang="en-US" altLang="en-GB" sz="1660"/>
              <a:t>and</a:t>
            </a:r>
            <a:r>
              <a:rPr lang="en-GB" sz="1610"/>
              <a:t> transformed this continuous variable into a binary classification variable.</a:t>
            </a:r>
            <a:endParaRPr sz="1610"/>
          </a:p>
          <a:p>
            <a:pPr marL="0" lvl="0" indent="0" algn="l" rtl="0">
              <a:lnSpc>
                <a:spcPct val="115000"/>
              </a:lnSpc>
              <a:spcBef>
                <a:spcPts val="1200"/>
              </a:spcBef>
              <a:spcAft>
                <a:spcPts val="0"/>
              </a:spcAft>
              <a:buNone/>
            </a:pPr>
            <a:r>
              <a:rPr lang="en-GB" sz="1660"/>
              <a:t>If they had at least one cat or one dog, we recorded it as yes; otherwise, it was recorded as no in a new column called </a:t>
            </a:r>
            <a:r>
              <a:rPr lang="en-GB" sz="1660" b="1"/>
              <a:t>Pet_or_no. </a:t>
            </a:r>
            <a:endParaRPr sz="1660" b="1"/>
          </a:p>
          <a:p>
            <a:pPr marL="0" lvl="0" indent="0" algn="l" rtl="0">
              <a:lnSpc>
                <a:spcPct val="115000"/>
              </a:lnSpc>
              <a:spcBef>
                <a:spcPts val="1200"/>
              </a:spcBef>
              <a:spcAft>
                <a:spcPts val="1200"/>
              </a:spcAft>
              <a:buNone/>
            </a:pPr>
            <a:endParaRPr sz="15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18"/>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l" rtl="0">
              <a:lnSpc>
                <a:spcPct val="115000"/>
              </a:lnSpc>
              <a:spcBef>
                <a:spcPts val="1500"/>
              </a:spcBef>
              <a:spcAft>
                <a:spcPts val="0"/>
              </a:spcAft>
              <a:buClr>
                <a:schemeClr val="dk1"/>
              </a:buClr>
              <a:buSzPts val="1100"/>
              <a:buFont typeface="Arial" panose="020B0604020202020204"/>
              <a:buNone/>
            </a:pPr>
            <a:r>
              <a:rPr lang="en-GB" sz="2800">
                <a:solidFill>
                  <a:schemeClr val="dk2"/>
                </a:solidFill>
              </a:rPr>
              <a:t> What types of people tend to feel more lonely?</a:t>
            </a:r>
            <a:endParaRPr sz="2800">
              <a:solidFill>
                <a:schemeClr val="dk2"/>
              </a:solidFill>
            </a:endParaRPr>
          </a:p>
          <a:p>
            <a:pPr marL="0" lvl="0" indent="0" algn="ctr" rtl="0">
              <a:spcBef>
                <a:spcPts val="1500"/>
              </a:spcBef>
              <a:spcAft>
                <a:spcPts val="0"/>
              </a:spcAft>
              <a:buNone/>
            </a:pPr>
          </a:p>
        </p:txBody>
      </p:sp>
      <p:sp>
        <p:nvSpPr>
          <p:cNvPr id="83" name="Google Shape;83;p18"/>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Analysis using decision tree</a:t>
            </a: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19"/>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Goal: Identify people in need of help</a:t>
            </a:r>
            <a:endParaRPr lang="en-GB"/>
          </a:p>
        </p:txBody>
      </p:sp>
      <p:sp>
        <p:nvSpPr>
          <p:cNvPr id="89" name="Google Shape;89;p19"/>
          <p:cNvSpPr txBox="1"/>
          <p:nvPr>
            <p:ph type="subTitle" idx="1"/>
          </p:nvPr>
        </p:nvSpPr>
        <p:spPr>
          <a:xfrm>
            <a:off x="311700" y="2834125"/>
            <a:ext cx="8520600" cy="1716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Dependent Variable: Loneliness score</a:t>
            </a:r>
            <a:endParaRPr lang="en-GB"/>
          </a:p>
          <a:p>
            <a:pPr marL="0" lvl="0" indent="0" algn="ctr" rtl="0">
              <a:spcBef>
                <a:spcPts val="0"/>
              </a:spcBef>
              <a:spcAft>
                <a:spcPts val="0"/>
              </a:spcAft>
              <a:buNone/>
            </a:pPr>
            <a:r>
              <a:rPr lang="en-GB"/>
              <a:t>Independent Variable: </a:t>
            </a:r>
            <a:r>
              <a:rPr lang="en-GB" sz="1100" b="1">
                <a:solidFill>
                  <a:schemeClr val="dk1"/>
                </a:solidFill>
              </a:rPr>
              <a:t>DEMO_age</a:t>
            </a:r>
            <a:r>
              <a:rPr lang="en-GB" sz="1100">
                <a:solidFill>
                  <a:schemeClr val="dk1"/>
                </a:solidFill>
              </a:rPr>
              <a:t>, </a:t>
            </a:r>
            <a:r>
              <a:rPr lang="en-GB" sz="1100" b="1">
                <a:solidFill>
                  <a:schemeClr val="dk1"/>
                </a:solidFill>
              </a:rPr>
              <a:t>DEMO_gender</a:t>
            </a:r>
            <a:endParaRPr sz="1100">
              <a:solidFill>
                <a:schemeClr val="dk1"/>
              </a:solidFill>
            </a:endParaRPr>
          </a:p>
          <a:p>
            <a:pPr marL="0" lvl="0" indent="0" algn="ctr" rtl="0">
              <a:spcBef>
                <a:spcPts val="0"/>
              </a:spcBef>
              <a:spcAft>
                <a:spcPts val="0"/>
              </a:spcAft>
              <a:buNone/>
            </a:pPr>
            <a:r>
              <a:rPr lang="en-GB" sz="1100" b="1">
                <a:solidFill>
                  <a:schemeClr val="dk1"/>
                </a:solidFill>
              </a:rPr>
              <a:t>DEMO_identity_newcomers</a:t>
            </a:r>
            <a:r>
              <a:rPr lang="en-GB" sz="1100">
                <a:solidFill>
                  <a:schemeClr val="dk1"/>
                </a:solidFill>
              </a:rPr>
              <a:t>, </a:t>
            </a:r>
            <a:r>
              <a:rPr lang="en-GB" sz="1100" b="1">
                <a:solidFill>
                  <a:schemeClr val="dk1"/>
                </a:solidFill>
              </a:rPr>
              <a:t>DEMO_identity_lgbtq</a:t>
            </a:r>
            <a:endParaRPr lang="en-GB" sz="1100"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20"/>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Method: Decision Tree</a:t>
            </a:r>
            <a:endParaRPr lang="en-GB"/>
          </a:p>
        </p:txBody>
      </p:sp>
      <p:sp>
        <p:nvSpPr>
          <p:cNvPr id="95" name="Google Shape;95;p20"/>
          <p:cNvSpPr txBox="1"/>
          <p:nvPr>
            <p:ph type="subTitle" idx="1"/>
          </p:nvPr>
        </p:nvSpPr>
        <p:spPr>
          <a:xfrm>
            <a:off x="258175" y="28555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Reasons</a:t>
            </a: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21"/>
          <p:cNvSpPr txBox="1"/>
          <p:nvPr>
            <p:ph type="ctrTitle"/>
          </p:nvPr>
        </p:nvSpPr>
        <p:spPr>
          <a:xfrm>
            <a:off x="357325" y="228925"/>
            <a:ext cx="8520600" cy="79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a:t>Variables we choose</a:t>
            </a:r>
            <a:endParaRPr lang="en-GB"/>
          </a:p>
        </p:txBody>
      </p:sp>
      <p:sp>
        <p:nvSpPr>
          <p:cNvPr id="101" name="Google Shape;101;p21"/>
          <p:cNvSpPr txBox="1"/>
          <p:nvPr/>
        </p:nvSpPr>
        <p:spPr>
          <a:xfrm>
            <a:off x="654075" y="1252550"/>
            <a:ext cx="7771200" cy="3455700"/>
          </a:xfrm>
          <a:prstGeom prst="rect">
            <a:avLst/>
          </a:prstGeom>
          <a:noFill/>
          <a:ln>
            <a:noFill/>
          </a:ln>
        </p:spPr>
        <p:txBody>
          <a:bodyPr spcFirstLastPara="1" wrap="square" lIns="91425" tIns="91425" rIns="91425" bIns="91425" anchor="t" anchorCtr="0">
            <a:spAutoFit/>
          </a:bodyPr>
          <a:lstStyle/>
          <a:p>
            <a:pPr marL="457200" lvl="0" indent="-336550" algn="l" rtl="0">
              <a:lnSpc>
                <a:spcPct val="115000"/>
              </a:lnSpc>
              <a:spcBef>
                <a:spcPts val="1200"/>
              </a:spcBef>
              <a:spcAft>
                <a:spcPts val="0"/>
              </a:spcAft>
              <a:buClr>
                <a:schemeClr val="dk1"/>
              </a:buClr>
              <a:buSzPts val="1700"/>
              <a:buChar char="●"/>
            </a:pPr>
            <a:r>
              <a:rPr lang="en-GB" sz="1700" b="1">
                <a:solidFill>
                  <a:schemeClr val="dk1"/>
                </a:solidFill>
              </a:rPr>
              <a:t>UCLA Loneliness Scale Score: </a:t>
            </a:r>
            <a:r>
              <a:rPr lang="en-GB" sz="1700">
                <a:solidFill>
                  <a:schemeClr val="dk1"/>
                </a:solidFill>
              </a:rPr>
              <a:t>A widely used scale in studies of loneliness, developed by researchers at University of California, Los Angeles in 1978. It is the </a:t>
            </a:r>
            <a:r>
              <a:rPr lang="en-GB" sz="1700">
                <a:solidFill>
                  <a:srgbClr val="202122"/>
                </a:solidFill>
                <a:highlight>
                  <a:srgbClr val="FFFFFF"/>
                </a:highlight>
              </a:rPr>
              <a:t>loneliness scale to achieve widespread acceptance among scientists.</a:t>
            </a:r>
            <a:endParaRPr sz="1700">
              <a:solidFill>
                <a:srgbClr val="202122"/>
              </a:solidFill>
              <a:highlight>
                <a:srgbClr val="FFFFFF"/>
              </a:highlight>
            </a:endParaRPr>
          </a:p>
          <a:p>
            <a:pPr marL="457200" lvl="0" indent="-336550" algn="l" rtl="0">
              <a:lnSpc>
                <a:spcPct val="115000"/>
              </a:lnSpc>
              <a:spcBef>
                <a:spcPts val="0"/>
              </a:spcBef>
              <a:spcAft>
                <a:spcPts val="0"/>
              </a:spcAft>
              <a:buClr>
                <a:srgbClr val="202122"/>
              </a:buClr>
              <a:buSzPts val="1700"/>
              <a:buChar char="●"/>
            </a:pPr>
            <a:r>
              <a:rPr lang="en-GB" sz="1700" b="1">
                <a:solidFill>
                  <a:srgbClr val="202122"/>
                </a:solidFill>
                <a:highlight>
                  <a:srgbClr val="FFFFFF"/>
                </a:highlight>
              </a:rPr>
              <a:t>Age: </a:t>
            </a:r>
            <a:r>
              <a:rPr lang="en-GB" sz="1700">
                <a:solidFill>
                  <a:srgbClr val="202122"/>
                </a:solidFill>
                <a:highlight>
                  <a:srgbClr val="FFFFFF"/>
                </a:highlight>
              </a:rPr>
              <a:t>We would want to investigate what age group tend to feel more lonely?</a:t>
            </a:r>
            <a:endParaRPr sz="1700">
              <a:solidFill>
                <a:srgbClr val="202122"/>
              </a:solidFill>
              <a:highlight>
                <a:srgbClr val="FFFFFF"/>
              </a:highlight>
            </a:endParaRPr>
          </a:p>
          <a:p>
            <a:pPr marL="457200" lvl="0" indent="-336550" algn="l" rtl="0">
              <a:lnSpc>
                <a:spcPct val="115000"/>
              </a:lnSpc>
              <a:spcBef>
                <a:spcPts val="0"/>
              </a:spcBef>
              <a:spcAft>
                <a:spcPts val="0"/>
              </a:spcAft>
              <a:buClr>
                <a:srgbClr val="202122"/>
              </a:buClr>
              <a:buSzPts val="1700"/>
              <a:buChar char="●"/>
            </a:pPr>
            <a:r>
              <a:rPr lang="en-GB" sz="1700" b="1">
                <a:solidFill>
                  <a:srgbClr val="202122"/>
                </a:solidFill>
                <a:highlight>
                  <a:srgbClr val="FFFFFF"/>
                </a:highlight>
              </a:rPr>
              <a:t>Gender and LGBTQ Identity: </a:t>
            </a:r>
            <a:r>
              <a:rPr lang="en-GB" sz="1700">
                <a:solidFill>
                  <a:srgbClr val="202122"/>
                </a:solidFill>
                <a:highlight>
                  <a:srgbClr val="FFFFFF"/>
                </a:highlight>
              </a:rPr>
              <a:t>Does identifying as LGBTQ affects one’s feeling of loneliness? Does gender have an impact on loneliness?</a:t>
            </a:r>
            <a:endParaRPr sz="1700">
              <a:solidFill>
                <a:srgbClr val="202122"/>
              </a:solidFill>
              <a:highlight>
                <a:srgbClr val="FFFFFF"/>
              </a:highlight>
            </a:endParaRPr>
          </a:p>
          <a:p>
            <a:pPr marL="457200" lvl="0" indent="-336550" algn="l" rtl="0">
              <a:lnSpc>
                <a:spcPct val="115000"/>
              </a:lnSpc>
              <a:spcBef>
                <a:spcPts val="0"/>
              </a:spcBef>
              <a:spcAft>
                <a:spcPts val="0"/>
              </a:spcAft>
              <a:buClr>
                <a:srgbClr val="202122"/>
              </a:buClr>
              <a:buSzPts val="1700"/>
              <a:buChar char="●"/>
            </a:pPr>
            <a:r>
              <a:rPr lang="en-GB" sz="1700" b="1">
                <a:solidFill>
                  <a:srgbClr val="202122"/>
                </a:solidFill>
                <a:highlight>
                  <a:srgbClr val="FFFFFF"/>
                </a:highlight>
              </a:rPr>
              <a:t>Immigration (Newcomer status): </a:t>
            </a:r>
            <a:r>
              <a:rPr lang="en-GB" sz="1700">
                <a:solidFill>
                  <a:srgbClr val="202122"/>
                </a:solidFill>
                <a:highlight>
                  <a:srgbClr val="FFFFFF"/>
                </a:highlight>
              </a:rPr>
              <a:t>Newcomers tend to feel more lonely in a new environment. We want to evaluate whether this statement is true with the dataset. </a:t>
            </a:r>
            <a:endParaRPr sz="1700">
              <a:solidFill>
                <a:srgbClr val="202122"/>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22"/>
          <p:cNvSpPr txBox="1"/>
          <p:nvPr>
            <p:ph type="ctrTitle"/>
          </p:nvPr>
        </p:nvSpPr>
        <p:spPr>
          <a:xfrm>
            <a:off x="357225" y="237700"/>
            <a:ext cx="8520600" cy="1224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The Approach</a:t>
            </a:r>
            <a:endParaRPr lang="en-GB"/>
          </a:p>
        </p:txBody>
      </p:sp>
      <p:sp>
        <p:nvSpPr>
          <p:cNvPr id="107" name="Google Shape;107;p22"/>
          <p:cNvSpPr txBox="1"/>
          <p:nvPr/>
        </p:nvSpPr>
        <p:spPr>
          <a:xfrm>
            <a:off x="758600" y="1537500"/>
            <a:ext cx="75105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b="1"/>
              <a:t>How we handle categorical data:</a:t>
            </a:r>
            <a:endParaRPr sz="1600" b="1"/>
          </a:p>
          <a:p>
            <a:pPr marL="0" lvl="0" indent="0" algn="l" rtl="0">
              <a:spcBef>
                <a:spcPts val="0"/>
              </a:spcBef>
              <a:spcAft>
                <a:spcPts val="0"/>
              </a:spcAft>
              <a:buNone/>
            </a:pPr>
            <a:r>
              <a:rPr lang="en-GB" sz="1600"/>
              <a:t>DEMO_gender: man - 0, non-binary-1, woman-2</a:t>
            </a:r>
            <a:endParaRPr sz="1600"/>
          </a:p>
          <a:p>
            <a:pPr marL="0" lvl="0" indent="0" algn="l" rtl="0">
              <a:spcBef>
                <a:spcPts val="0"/>
              </a:spcBef>
              <a:spcAft>
                <a:spcPts val="0"/>
              </a:spcAft>
              <a:buNone/>
            </a:pPr>
            <a:r>
              <a:rPr lang="en-GB" sz="1600"/>
              <a:t>DEMO_identity_newcomers: newcomers - 1, not selected and presented but no response - 0</a:t>
            </a:r>
            <a:endParaRPr sz="1600"/>
          </a:p>
          <a:p>
            <a:pPr marL="0" lvl="0" indent="0" algn="l" rtl="0">
              <a:spcBef>
                <a:spcPts val="0"/>
              </a:spcBef>
              <a:spcAft>
                <a:spcPts val="0"/>
              </a:spcAft>
              <a:buNone/>
            </a:pPr>
            <a:r>
              <a:rPr lang="en-GB" sz="1600"/>
              <a:t>DEMO_identity_lgbtq: not selected and no response - 0, lgbtq - 1</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GB" sz="1600" b="1"/>
              <a:t>How we build up the model:</a:t>
            </a:r>
            <a:endParaRPr sz="1600" b="1"/>
          </a:p>
          <a:p>
            <a:pPr marL="0" lvl="0" indent="0" algn="l" rtl="0">
              <a:spcBef>
                <a:spcPts val="0"/>
              </a:spcBef>
              <a:spcAft>
                <a:spcPts val="0"/>
              </a:spcAft>
              <a:buNone/>
            </a:pPr>
            <a:r>
              <a:rPr lang="en-GB" sz="1600"/>
              <a:t>We split the data into a 70-30 train-test split. </a:t>
            </a:r>
            <a:endParaRPr sz="1600"/>
          </a:p>
          <a:p>
            <a:pPr marL="0" lvl="0" indent="0" algn="l" rtl="0">
              <a:spcBef>
                <a:spcPts val="0"/>
              </a:spcBef>
              <a:spcAft>
                <a:spcPts val="0"/>
              </a:spcAft>
              <a:buNone/>
            </a:pPr>
            <a:r>
              <a:rPr lang="en-GB" sz="1600"/>
              <a:t>We trained the model based on the 70% training dataset and tested it on the 30% test dataset. </a:t>
            </a:r>
            <a:endParaRPr sz="1600"/>
          </a:p>
          <a:p>
            <a:pPr marL="0" lvl="0" indent="0" algn="l" rtl="0">
              <a:spcBef>
                <a:spcPts val="0"/>
              </a:spcBef>
              <a:spcAft>
                <a:spcPts val="0"/>
              </a:spcAft>
              <a:buNone/>
            </a:pPr>
            <a:r>
              <a:rPr lang="en-GB" sz="1600"/>
              <a:t>Restricting a depth of 4 will reduce overfitting.</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11" name="Shape 111"/>
        <p:cNvGrpSpPr/>
        <p:nvPr/>
      </p:nvGrpSpPr>
      <p:grpSpPr>
        <a:xfrm>
          <a:off x="0" y="0"/>
          <a:ext cx="0" cy="0"/>
          <a:chOff x="0" y="0"/>
          <a:chExt cx="0" cy="0"/>
        </a:xfrm>
      </p:grpSpPr>
      <p:sp>
        <p:nvSpPr>
          <p:cNvPr id="112" name="Google Shape;112;p23"/>
          <p:cNvSpPr/>
          <p:nvPr/>
        </p:nvSpPr>
        <p:spPr>
          <a:xfrm>
            <a:off x="1780275" y="40475"/>
            <a:ext cx="5406600" cy="348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The Decision Tree</a:t>
            </a:r>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sp>
        <p:nvSpPr>
          <p:cNvPr id="117" name="Google Shape;117;p24"/>
          <p:cNvSpPr txBox="1"/>
          <p:nvPr>
            <p:ph type="ctrTitle"/>
          </p:nvPr>
        </p:nvSpPr>
        <p:spPr>
          <a:xfrm>
            <a:off x="366158" y="-823700"/>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Results Analysis</a:t>
            </a:r>
            <a:endParaRPr lang="en-GB"/>
          </a:p>
        </p:txBody>
      </p:sp>
      <p:sp>
        <p:nvSpPr>
          <p:cNvPr id="118" name="Google Shape;118;p24"/>
          <p:cNvSpPr txBox="1"/>
          <p:nvPr>
            <p:ph type="subTitle" idx="1"/>
          </p:nvPr>
        </p:nvSpPr>
        <p:spPr>
          <a:xfrm>
            <a:off x="336975" y="1357325"/>
            <a:ext cx="8520600" cy="36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b="1"/>
              <a:t>Age:</a:t>
            </a:r>
            <a:r>
              <a:rPr lang="en-GB"/>
              <a:t> Younger and older age groups tend to feel more lonely</a:t>
            </a:r>
            <a:endParaRPr lang="en-GB"/>
          </a:p>
          <a:p>
            <a:pPr marL="0" lvl="0" indent="0" algn="l" rtl="0">
              <a:spcBef>
                <a:spcPts val="0"/>
              </a:spcBef>
              <a:spcAft>
                <a:spcPts val="0"/>
              </a:spcAft>
              <a:buNone/>
            </a:pPr>
            <a:r>
              <a:rPr lang="en-GB" b="1"/>
              <a:t>Gender and LGBTQ Identity: </a:t>
            </a:r>
            <a:r>
              <a:rPr lang="en-GB"/>
              <a:t>Gender alone has little effect on loneliness, while identifying as LGBTQ will increase likeliness of feeling lonely.</a:t>
            </a:r>
            <a:endParaRPr lang="en-GB"/>
          </a:p>
          <a:p>
            <a:pPr marL="0" lvl="0" indent="0" algn="l" rtl="0">
              <a:spcBef>
                <a:spcPts val="0"/>
              </a:spcBef>
              <a:spcAft>
                <a:spcPts val="0"/>
              </a:spcAft>
              <a:buNone/>
            </a:pPr>
            <a:r>
              <a:rPr lang="en-GB" b="1"/>
              <a:t>Newcomer status: </a:t>
            </a:r>
            <a:r>
              <a:rPr lang="en-GB"/>
              <a:t>We have proven that newcomer status will likely cause one to feel lonely.</a:t>
            </a: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2" name="Shape 122"/>
        <p:cNvGrpSpPr/>
        <p:nvPr/>
      </p:nvGrpSpPr>
      <p:grpSpPr>
        <a:xfrm>
          <a:off x="0" y="0"/>
          <a:ext cx="0" cy="0"/>
          <a:chOff x="0" y="0"/>
          <a:chExt cx="0" cy="0"/>
        </a:xfrm>
      </p:grpSpPr>
      <p:sp>
        <p:nvSpPr>
          <p:cNvPr id="123" name="Google Shape;123;p25"/>
          <p:cNvSpPr txBox="1"/>
          <p:nvPr>
            <p:ph type="ctrTitle"/>
          </p:nvPr>
        </p:nvSpPr>
        <p:spPr>
          <a:xfrm>
            <a:off x="428033" y="-206250"/>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4600"/>
              <a:t>Evaluation of the model and further thoughts</a:t>
            </a:r>
            <a:endParaRPr sz="4600"/>
          </a:p>
        </p:txBody>
      </p:sp>
      <p:sp>
        <p:nvSpPr>
          <p:cNvPr id="124" name="Google Shape;124;p25"/>
          <p:cNvSpPr txBox="1"/>
          <p:nvPr/>
        </p:nvSpPr>
        <p:spPr>
          <a:xfrm>
            <a:off x="460225" y="1846350"/>
            <a:ext cx="24378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a:solidFill>
                  <a:schemeClr val="dk2"/>
                </a:solidFill>
              </a:rPr>
              <a:t>Overall accuracy of the model (out-of-sample):</a:t>
            </a:r>
            <a:endParaRPr sz="2000" b="1">
              <a:solidFill>
                <a:schemeClr val="dk2"/>
              </a:solidFill>
            </a:endParaRPr>
          </a:p>
          <a:p>
            <a:pPr marL="0" lvl="0" indent="0" algn="l" rtl="0">
              <a:spcBef>
                <a:spcPts val="0"/>
              </a:spcBef>
              <a:spcAft>
                <a:spcPts val="0"/>
              </a:spcAft>
              <a:buNone/>
            </a:pPr>
            <a:r>
              <a:rPr lang="en-GB" sz="2000">
                <a:solidFill>
                  <a:schemeClr val="dk2"/>
                </a:solidFill>
              </a:rPr>
              <a:t>Precision: 56%</a:t>
            </a:r>
            <a:endParaRPr sz="2000">
              <a:solidFill>
                <a:schemeClr val="dk2"/>
              </a:solidFill>
            </a:endParaRPr>
          </a:p>
          <a:p>
            <a:pPr marL="0" lvl="0" indent="0" algn="l" rtl="0">
              <a:spcBef>
                <a:spcPts val="0"/>
              </a:spcBef>
              <a:spcAft>
                <a:spcPts val="0"/>
              </a:spcAft>
              <a:buNone/>
            </a:pPr>
            <a:r>
              <a:rPr lang="en-GB" sz="2000">
                <a:solidFill>
                  <a:schemeClr val="dk2"/>
                </a:solidFill>
              </a:rPr>
              <a:t>Recall: 54%</a:t>
            </a:r>
            <a:endParaRPr sz="2000">
              <a:solidFill>
                <a:schemeClr val="dk2"/>
              </a:solidFill>
            </a:endParaRPr>
          </a:p>
          <a:p>
            <a:pPr marL="0" lvl="0" indent="0" algn="l" rtl="0">
              <a:spcBef>
                <a:spcPts val="0"/>
              </a:spcBef>
              <a:spcAft>
                <a:spcPts val="0"/>
              </a:spcAft>
              <a:buNone/>
            </a:pPr>
            <a:r>
              <a:rPr lang="en-GB" sz="2000">
                <a:solidFill>
                  <a:schemeClr val="dk2"/>
                </a:solidFill>
              </a:rPr>
              <a:t>F1-Score: 50%</a:t>
            </a:r>
            <a:endParaRPr sz="2800" b="1">
              <a:solidFill>
                <a:schemeClr val="dk2"/>
              </a:solidFill>
            </a:endParaRPr>
          </a:p>
        </p:txBody>
      </p:sp>
      <p:sp>
        <p:nvSpPr>
          <p:cNvPr id="125" name="Google Shape;125;p25"/>
          <p:cNvSpPr txBox="1"/>
          <p:nvPr/>
        </p:nvSpPr>
        <p:spPr>
          <a:xfrm>
            <a:off x="3115425" y="1863750"/>
            <a:ext cx="5745300" cy="326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a:solidFill>
                  <a:schemeClr val="dk2"/>
                </a:solidFill>
              </a:rPr>
              <a:t>Further thoughts:</a:t>
            </a:r>
            <a:endParaRPr sz="2000" b="1">
              <a:solidFill>
                <a:schemeClr val="dk2"/>
              </a:solidFill>
            </a:endParaRPr>
          </a:p>
          <a:p>
            <a:pPr marL="0" lvl="0" indent="0" algn="l" rtl="0">
              <a:spcBef>
                <a:spcPts val="0"/>
              </a:spcBef>
              <a:spcAft>
                <a:spcPts val="0"/>
              </a:spcAft>
              <a:buNone/>
            </a:pPr>
            <a:r>
              <a:rPr lang="en-GB" sz="2000">
                <a:solidFill>
                  <a:schemeClr val="dk2"/>
                </a:solidFill>
              </a:rPr>
              <a:t>Model improvements: Introducing additional variables will further enhance predictive power.</a:t>
            </a:r>
            <a:endParaRPr sz="2000">
              <a:solidFill>
                <a:schemeClr val="dk2"/>
              </a:solidFill>
            </a:endParaRPr>
          </a:p>
          <a:p>
            <a:pPr marL="0" lvl="0" indent="0" algn="l" rtl="0">
              <a:spcBef>
                <a:spcPts val="0"/>
              </a:spcBef>
              <a:spcAft>
                <a:spcPts val="0"/>
              </a:spcAft>
              <a:buNone/>
            </a:pPr>
            <a:r>
              <a:rPr lang="en-GB" sz="2000" b="1">
                <a:solidFill>
                  <a:schemeClr val="dk2"/>
                </a:solidFill>
              </a:rPr>
              <a:t>Social insights: </a:t>
            </a:r>
            <a:endParaRPr sz="2000" b="1">
              <a:solidFill>
                <a:schemeClr val="dk2"/>
              </a:solidFill>
            </a:endParaRPr>
          </a:p>
          <a:p>
            <a:pPr marL="457200" lvl="0" indent="-355600" algn="l" rtl="0">
              <a:spcBef>
                <a:spcPts val="0"/>
              </a:spcBef>
              <a:spcAft>
                <a:spcPts val="0"/>
              </a:spcAft>
              <a:buClr>
                <a:schemeClr val="dk2"/>
              </a:buClr>
              <a:buSzPts val="2000"/>
              <a:buChar char="●"/>
            </a:pPr>
            <a:r>
              <a:rPr lang="en-GB" sz="2000">
                <a:solidFill>
                  <a:schemeClr val="dk2"/>
                </a:solidFill>
              </a:rPr>
              <a:t>Focus on addressing the needs of newcomers and LGBTQ individuals, as they are more likely to experience loneliness.</a:t>
            </a:r>
            <a:endParaRPr sz="2000">
              <a:solidFill>
                <a:schemeClr val="dk2"/>
              </a:solidFill>
            </a:endParaRPr>
          </a:p>
          <a:p>
            <a:pPr marL="457200" lvl="0" indent="-355600" algn="l" rtl="0">
              <a:spcBef>
                <a:spcPts val="0"/>
              </a:spcBef>
              <a:spcAft>
                <a:spcPts val="0"/>
              </a:spcAft>
              <a:buClr>
                <a:schemeClr val="dk2"/>
              </a:buClr>
              <a:buSzPts val="2000"/>
              <a:buChar char="●"/>
            </a:pPr>
            <a:r>
              <a:rPr lang="en-GB" sz="2000">
                <a:solidFill>
                  <a:schemeClr val="dk2"/>
                </a:solidFill>
              </a:rPr>
              <a:t>Create age-specific interventions targeting social inclusion and mental health.</a:t>
            </a:r>
            <a:endParaRPr sz="2000">
              <a:solidFill>
                <a:schemeClr val="dk2"/>
              </a:solidFill>
            </a:endParaRPr>
          </a:p>
          <a:p>
            <a:pPr marL="0" lvl="0" indent="0" algn="l" rtl="0">
              <a:spcBef>
                <a:spcPts val="0"/>
              </a:spcBef>
              <a:spcAft>
                <a:spcPts val="0"/>
              </a:spcAft>
              <a:buNone/>
            </a:pPr>
            <a:endParaRPr sz="20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26"/>
          <p:cNvSpPr txBox="1"/>
          <p:nvPr>
            <p:ph type="subTitle" idx="1"/>
          </p:nvPr>
        </p:nvSpPr>
        <p:spPr>
          <a:xfrm>
            <a:off x="463675" y="283550"/>
            <a:ext cx="7959000" cy="4676700"/>
          </a:xfrm>
          <a:prstGeom prst="rect">
            <a:avLst/>
          </a:prstGeom>
        </p:spPr>
        <p:txBody>
          <a:bodyPr spcFirstLastPara="1" wrap="square" lIns="91425" tIns="91425" rIns="91425" bIns="91425" anchor="t" anchorCtr="0">
            <a:normAutofit lnSpcReduction="10000"/>
          </a:bodyPr>
          <a:lstStyle/>
          <a:p>
            <a:pPr marL="0" lvl="0" indent="0" algn="l" rtl="0">
              <a:lnSpc>
                <a:spcPct val="115000"/>
              </a:lnSpc>
              <a:spcBef>
                <a:spcPts val="1400"/>
              </a:spcBef>
              <a:spcAft>
                <a:spcPts val="0"/>
              </a:spcAft>
              <a:buNone/>
            </a:pPr>
            <a:endParaRPr sz="1900" b="1">
              <a:solidFill>
                <a:schemeClr val="dk1"/>
              </a:solidFill>
            </a:endParaRPr>
          </a:p>
          <a:p>
            <a:pPr marL="0" lvl="0" indent="0" algn="l" rtl="0">
              <a:lnSpc>
                <a:spcPct val="115000"/>
              </a:lnSpc>
              <a:spcBef>
                <a:spcPts val="1400"/>
              </a:spcBef>
              <a:spcAft>
                <a:spcPts val="0"/>
              </a:spcAft>
              <a:buNone/>
            </a:pPr>
            <a:r>
              <a:rPr lang="en-GB" sz="1900" b="1">
                <a:solidFill>
                  <a:schemeClr val="dk1"/>
                </a:solidFill>
              </a:rPr>
              <a:t>2. Do </a:t>
            </a:r>
            <a:r>
              <a:rPr lang="en-US" altLang="en-GB" sz="1900" b="1">
                <a:solidFill>
                  <a:schemeClr val="dk1"/>
                </a:solidFill>
              </a:rPr>
              <a:t>C</a:t>
            </a:r>
            <a:r>
              <a:rPr lang="en-GB" sz="1900" b="1">
                <a:solidFill>
                  <a:schemeClr val="dk1"/>
                </a:solidFill>
              </a:rPr>
              <a:t>ommonly-Used Ways </a:t>
            </a:r>
            <a:r>
              <a:rPr lang="en-US" altLang="en-GB" sz="1900" b="1">
                <a:solidFill>
                  <a:schemeClr val="dk1"/>
                </a:solidFill>
              </a:rPr>
              <a:t>w</a:t>
            </a:r>
            <a:r>
              <a:rPr lang="en-GB" sz="1900" b="1">
                <a:solidFill>
                  <a:schemeClr val="dk1"/>
                </a:solidFill>
              </a:rPr>
              <a:t>ork</a:t>
            </a:r>
            <a:r>
              <a:rPr lang="en-US" altLang="en-GB" sz="1900" b="1">
                <a:solidFill>
                  <a:schemeClr val="dk1"/>
                </a:solidFill>
              </a:rPr>
              <a:t>s</a:t>
            </a:r>
            <a:r>
              <a:rPr lang="en-GB" sz="1900" b="1">
                <a:solidFill>
                  <a:schemeClr val="dk1"/>
                </a:solidFill>
              </a:rPr>
              <a:t>?</a:t>
            </a:r>
            <a:endParaRPr sz="19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GB" sz="1700" b="1">
                <a:solidFill>
                  <a:schemeClr val="dk1"/>
                </a:solidFill>
              </a:rPr>
              <a:t>Goals</a:t>
            </a:r>
            <a:r>
              <a:rPr lang="en-GB" sz="1700">
                <a:solidFill>
                  <a:schemeClr val="dk1"/>
                </a:solidFill>
              </a:rPr>
              <a:t>: </a:t>
            </a:r>
            <a:endParaRPr sz="1700">
              <a:solidFill>
                <a:schemeClr val="dk1"/>
              </a:solidFill>
            </a:endParaRPr>
          </a:p>
          <a:p>
            <a:pPr marL="457200" lvl="0" indent="0" algn="l" rtl="0">
              <a:lnSpc>
                <a:spcPct val="115000"/>
              </a:lnSpc>
              <a:spcBef>
                <a:spcPts val="1200"/>
              </a:spcBef>
              <a:spcAft>
                <a:spcPts val="0"/>
              </a:spcAft>
              <a:buNone/>
            </a:pPr>
            <a:r>
              <a:rPr lang="en-GB" sz="1700">
                <a:solidFill>
                  <a:schemeClr val="dk1"/>
                </a:solidFill>
              </a:rPr>
              <a:t>Investigate whether pets, exercise, and social interaction effectively reduce loneliness.</a:t>
            </a:r>
            <a:endParaRPr sz="17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GB" sz="1700" b="1">
                <a:solidFill>
                  <a:schemeClr val="dk1"/>
                </a:solidFill>
              </a:rPr>
              <a:t>Dependent Variable</a:t>
            </a:r>
            <a:r>
              <a:rPr lang="en-GB" sz="1700">
                <a:solidFill>
                  <a:schemeClr val="dk1"/>
                </a:solidFill>
              </a:rPr>
              <a:t>: Loneliness (LONELY_ucla_loneliness_scale_score)</a:t>
            </a:r>
            <a:endParaRPr sz="1700">
              <a:solidFill>
                <a:schemeClr val="dk1"/>
              </a:solidFill>
            </a:endParaRPr>
          </a:p>
          <a:p>
            <a:pPr marL="0" lvl="0" indent="0" algn="l" rtl="0">
              <a:lnSpc>
                <a:spcPct val="100000"/>
              </a:lnSpc>
              <a:spcBef>
                <a:spcPts val="1200"/>
              </a:spcBef>
              <a:spcAft>
                <a:spcPts val="0"/>
              </a:spcAft>
              <a:buNone/>
            </a:pPr>
            <a:r>
              <a:rPr lang="en-GB" sz="1700" b="1">
                <a:solidFill>
                  <a:schemeClr val="dk1"/>
                </a:solidFill>
              </a:rPr>
              <a:t>Independent Variables</a:t>
            </a:r>
            <a:r>
              <a:rPr lang="en-GB" sz="1700">
                <a:solidFill>
                  <a:schemeClr val="dk1"/>
                </a:solidFill>
              </a:rPr>
              <a:t>: Pet</a:t>
            </a:r>
            <a:r>
              <a:rPr lang="en-US" altLang="en-GB" sz="1700">
                <a:solidFill>
                  <a:schemeClr val="dk1"/>
                </a:solidFill>
              </a:rPr>
              <a:t>_or_no</a:t>
            </a:r>
            <a:r>
              <a:rPr lang="en-GB" sz="1700">
                <a:solidFill>
                  <a:schemeClr val="dk1"/>
                </a:solidFill>
              </a:rPr>
              <a:t>, </a:t>
            </a:r>
            <a:r>
              <a:rPr lang="en-GB" sz="1700">
                <a:sym typeface="+mn-ea"/>
              </a:rPr>
              <a:t>CONNECTION_activities_talked_day_p3m, </a:t>
            </a:r>
            <a:endParaRPr sz="1700"/>
          </a:p>
          <a:p>
            <a:pPr marL="0" lvl="0" indent="0" algn="l" rtl="0">
              <a:lnSpc>
                <a:spcPct val="100000"/>
              </a:lnSpc>
              <a:spcBef>
                <a:spcPts val="1200"/>
              </a:spcBef>
              <a:spcAft>
                <a:spcPts val="0"/>
              </a:spcAft>
              <a:buNone/>
            </a:pPr>
            <a:r>
              <a:rPr lang="en-GB" sz="1700">
                <a:sym typeface="+mn-ea"/>
              </a:rPr>
              <a:t>CONNECTION_activities_group_exercise_p3m</a:t>
            </a:r>
            <a:endParaRPr sz="1700"/>
          </a:p>
          <a:p>
            <a:pPr marL="457200" lvl="0" indent="-336550" algn="l" rtl="0">
              <a:lnSpc>
                <a:spcPct val="115000"/>
              </a:lnSpc>
              <a:spcBef>
                <a:spcPts val="0"/>
              </a:spcBef>
              <a:spcAft>
                <a:spcPts val="0"/>
              </a:spcAft>
              <a:buClr>
                <a:schemeClr val="dk1"/>
              </a:buClr>
              <a:buSzPts val="1700"/>
              <a:buChar char="●"/>
            </a:pP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GB" sz="1700" b="1">
                <a:solidFill>
                  <a:schemeClr val="dk1"/>
                </a:solidFill>
              </a:rPr>
              <a:t>Methods</a:t>
            </a:r>
            <a:r>
              <a:rPr lang="en-GB" sz="1700">
                <a:solidFill>
                  <a:schemeClr val="dk1"/>
                </a:solidFill>
              </a:rPr>
              <a:t>: </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GB" sz="1700">
                <a:solidFill>
                  <a:schemeClr val="dk1"/>
                </a:solidFill>
              </a:rPr>
              <a:t>Use </a:t>
            </a:r>
            <a:r>
              <a:rPr lang="en-US" altLang="en-GB" sz="1700">
                <a:solidFill>
                  <a:schemeClr val="dk1"/>
                </a:solidFill>
              </a:rPr>
              <a:t>Hypothesis test (</a:t>
            </a:r>
            <a:r>
              <a:rPr lang="en-GB" sz="1700">
                <a:solidFill>
                  <a:schemeClr val="dk1"/>
                </a:solidFill>
              </a:rPr>
              <a:t>statistical tests (t-tests, bootstrapping) to compare loneliness scores between different groups for each independent variables.</a:t>
            </a:r>
            <a:endParaRPr lang="en-GB" sz="17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27"/>
          <p:cNvSpPr txBox="1"/>
          <p:nvPr/>
        </p:nvSpPr>
        <p:spPr>
          <a:xfrm>
            <a:off x="517575" y="668575"/>
            <a:ext cx="7699200" cy="307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GB" sz="2000" b="1">
                <a:solidFill>
                  <a:schemeClr val="dk1"/>
                </a:solidFill>
              </a:rPr>
              <a:t>Exercise Frequency &amp; Loneliness</a:t>
            </a:r>
            <a:endParaRPr sz="2000" b="1">
              <a:solidFill>
                <a:schemeClr val="dk1"/>
              </a:solidFill>
            </a:endParaRPr>
          </a:p>
          <a:p>
            <a:pPr marL="0" lvl="0" indent="0" algn="l" rtl="0">
              <a:lnSpc>
                <a:spcPct val="115000"/>
              </a:lnSpc>
              <a:spcBef>
                <a:spcPts val="1200"/>
              </a:spcBef>
              <a:spcAft>
                <a:spcPts val="0"/>
              </a:spcAft>
              <a:buNone/>
            </a:pPr>
            <a:r>
              <a:rPr lang="en-GB" sz="1600" b="1">
                <a:solidFill>
                  <a:schemeClr val="dk1"/>
                </a:solidFill>
              </a:rPr>
              <a:t>H₀</a:t>
            </a:r>
            <a:r>
              <a:rPr lang="en-GB" sz="1600">
                <a:solidFill>
                  <a:schemeClr val="dk1"/>
                </a:solidFill>
              </a:rPr>
              <a:t>: No significant difference in loneliness between high and low exercise frequency groups.</a:t>
            </a:r>
            <a:br>
              <a:rPr lang="en-GB" sz="1600">
                <a:solidFill>
                  <a:schemeClr val="dk1"/>
                </a:solidFill>
              </a:rPr>
            </a:br>
            <a:r>
              <a:rPr lang="en-GB" sz="1600" b="1">
                <a:solidFill>
                  <a:schemeClr val="dk1"/>
                </a:solidFill>
              </a:rPr>
              <a:t>H₁</a:t>
            </a:r>
            <a:r>
              <a:rPr lang="en-GB" sz="1600">
                <a:solidFill>
                  <a:schemeClr val="dk1"/>
                </a:solidFill>
              </a:rPr>
              <a:t>: Significant difference in loneliness between high and low exercise frequency groups.</a:t>
            </a:r>
            <a:br>
              <a:rPr lang="en-GB" sz="1600">
                <a:solidFill>
                  <a:schemeClr val="dk1"/>
                </a:solidFill>
              </a:rPr>
            </a:br>
            <a:r>
              <a:rPr lang="en-GB" sz="1600" b="1">
                <a:solidFill>
                  <a:schemeClr val="dk1"/>
                </a:solidFill>
              </a:rPr>
              <a:t>Method</a:t>
            </a:r>
            <a:r>
              <a:rPr lang="en-GB" sz="1600">
                <a:solidFill>
                  <a:schemeClr val="dk1"/>
                </a:solidFill>
              </a:rPr>
              <a:t>: Bootstrapping to compare loneliness scores.</a:t>
            </a:r>
            <a:br>
              <a:rPr lang="en-GB" sz="1600">
                <a:solidFill>
                  <a:schemeClr val="dk1"/>
                </a:solidFill>
              </a:rPr>
            </a:br>
            <a:r>
              <a:rPr lang="en-GB" sz="1600" b="1">
                <a:solidFill>
                  <a:schemeClr val="dk1"/>
                </a:solidFill>
              </a:rPr>
              <a:t>Results</a:t>
            </a:r>
            <a:r>
              <a:rPr lang="en-GB" sz="1600">
                <a:solidFill>
                  <a:schemeClr val="dk1"/>
                </a:solidFill>
              </a:rPr>
              <a:t>: Low group mean: 5.59, High group mean: 5.30, p-value: 0.0003.</a:t>
            </a:r>
            <a:endParaRPr sz="1800" b="1">
              <a:solidFill>
                <a:schemeClr val="dk1"/>
              </a:solidFill>
            </a:endParaRPr>
          </a:p>
          <a:p>
            <a:pPr marL="0" lvl="0" indent="0" algn="l" rtl="0">
              <a:lnSpc>
                <a:spcPct val="115000"/>
              </a:lnSpc>
              <a:spcBef>
                <a:spcPts val="1200"/>
              </a:spcBef>
              <a:spcAft>
                <a:spcPts val="1200"/>
              </a:spcAft>
              <a:buNone/>
            </a:pPr>
            <a:r>
              <a:rPr lang="en-GB" sz="1600" b="1">
                <a:solidFill>
                  <a:schemeClr val="dk1"/>
                </a:solidFill>
              </a:rPr>
              <a:t>Conclusion</a:t>
            </a:r>
            <a:r>
              <a:rPr lang="en-GB" sz="1600">
                <a:solidFill>
                  <a:schemeClr val="dk1"/>
                </a:solidFill>
              </a:rPr>
              <a:t>: p-value &lt; 0.05, reject the null hypothesis.</a:t>
            </a:r>
            <a:br>
              <a:rPr lang="en-GB" sz="1600">
                <a:solidFill>
                  <a:schemeClr val="dk1"/>
                </a:solidFill>
              </a:rPr>
            </a:br>
            <a:r>
              <a:rPr lang="en-GB" sz="1600">
                <a:solidFill>
                  <a:schemeClr val="dk1"/>
                </a:solidFill>
              </a:rPr>
              <a:t>High exercise group’s loneliness is significantly lower than low exercise group’s.</a:t>
            </a:r>
            <a:endParaRPr sz="16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sp>
        <p:nvSpPr>
          <p:cNvPr id="140" name="Google Shape;140;p28"/>
          <p:cNvSpPr txBox="1"/>
          <p:nvPr>
            <p:ph type="ctrTitle"/>
          </p:nvPr>
        </p:nvSpPr>
        <p:spPr>
          <a:xfrm>
            <a:off x="417623" y="1666760"/>
            <a:ext cx="8520600" cy="2052600"/>
          </a:xfrm>
          <a:prstGeom prst="rect">
            <a:avLst/>
          </a:prstGeom>
        </p:spPr>
        <p:txBody>
          <a:bodyPr spcFirstLastPara="1" wrap="square" lIns="91425" tIns="91425" rIns="91425" bIns="91425" anchor="b" anchorCtr="0">
            <a:noAutofit/>
          </a:bodyPr>
          <a:lstStyle/>
          <a:p>
            <a:pPr marL="0" lvl="0" indent="0" algn="l" rtl="0">
              <a:lnSpc>
                <a:spcPct val="115000"/>
              </a:lnSpc>
              <a:spcBef>
                <a:spcPts val="1400"/>
              </a:spcBef>
              <a:spcAft>
                <a:spcPts val="0"/>
              </a:spcAft>
              <a:buClr>
                <a:schemeClr val="dk1"/>
              </a:buClr>
              <a:buSzPts val="990"/>
              <a:buFont typeface="Arial" panose="020B0604020202020204"/>
              <a:buNone/>
            </a:pPr>
            <a:r>
              <a:rPr lang="en-GB" sz="1990" b="1"/>
              <a:t>Pets &amp; Loneliness</a:t>
            </a:r>
            <a:endParaRPr sz="1990" b="1"/>
          </a:p>
          <a:p>
            <a:pPr marL="0" lvl="0" indent="0" algn="l" rtl="0">
              <a:lnSpc>
                <a:spcPct val="115000"/>
              </a:lnSpc>
              <a:spcBef>
                <a:spcPts val="1200"/>
              </a:spcBef>
              <a:spcAft>
                <a:spcPts val="0"/>
              </a:spcAft>
              <a:buSzPts val="990"/>
              <a:buNone/>
            </a:pPr>
            <a:r>
              <a:rPr lang="en-GB" sz="1910" b="1"/>
              <a:t>H₀</a:t>
            </a:r>
            <a:r>
              <a:rPr lang="en-GB" sz="1910"/>
              <a:t>: No significant difference in loneliness between pet and non-pet groups.</a:t>
            </a:r>
            <a:br>
              <a:rPr lang="en-GB" sz="1910"/>
            </a:br>
            <a:r>
              <a:rPr lang="en-GB" sz="1910" b="1"/>
              <a:t>H₁</a:t>
            </a:r>
            <a:r>
              <a:rPr lang="en-GB" sz="1910"/>
              <a:t>: Significant difference in loneliness between pet and non-pet groups.</a:t>
            </a:r>
            <a:br>
              <a:rPr lang="en-GB" sz="1910"/>
            </a:br>
            <a:r>
              <a:rPr lang="en-GB" sz="1910" b="1"/>
              <a:t>Results</a:t>
            </a:r>
            <a:r>
              <a:rPr lang="en-GB" sz="1910"/>
              <a:t>: </a:t>
            </a:r>
            <a:br>
              <a:rPr lang="en-GB" sz="1910"/>
            </a:br>
            <a:r>
              <a:rPr lang="en-GB" sz="1910"/>
              <a:t>Pet group mean: 5.43, No pet group mean: 5.66.</a:t>
            </a:r>
            <a:br>
              <a:rPr lang="en-GB" sz="1910"/>
            </a:br>
            <a:r>
              <a:rPr lang="en-GB" sz="1910" b="1"/>
              <a:t>p-value</a:t>
            </a:r>
            <a:r>
              <a:rPr lang="en-GB" sz="1910"/>
              <a:t>: 0.4989</a:t>
            </a:r>
            <a:endParaRPr sz="1910"/>
          </a:p>
          <a:p>
            <a:pPr marL="0" lvl="0" indent="0" algn="l" rtl="0">
              <a:lnSpc>
                <a:spcPct val="115000"/>
              </a:lnSpc>
              <a:spcBef>
                <a:spcPts val="1200"/>
              </a:spcBef>
              <a:spcAft>
                <a:spcPts val="1200"/>
              </a:spcAft>
              <a:buSzPts val="990"/>
              <a:buNone/>
            </a:pPr>
            <a:r>
              <a:rPr lang="en-GB" sz="1910" b="1"/>
              <a:t>Conclusion</a:t>
            </a:r>
            <a:r>
              <a:rPr lang="en-GB" sz="1910"/>
              <a:t>: Fail to reject the null hypothesis. </a:t>
            </a:r>
            <a:endParaRPr sz="191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29"/>
          <p:cNvSpPr txBox="1"/>
          <p:nvPr>
            <p:ph type="ctrTitle"/>
          </p:nvPr>
        </p:nvSpPr>
        <p:spPr>
          <a:xfrm>
            <a:off x="236225" y="420550"/>
            <a:ext cx="8520600" cy="3972600"/>
          </a:xfrm>
          <a:prstGeom prst="rect">
            <a:avLst/>
          </a:prstGeom>
        </p:spPr>
        <p:txBody>
          <a:bodyPr spcFirstLastPara="1" wrap="square" lIns="91425" tIns="91425" rIns="91425" bIns="91425" anchor="b"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GB" sz="1900" b="1"/>
              <a:t>Social Interaction Frequency &amp; Loneliness</a:t>
            </a:r>
            <a:endParaRPr sz="1900" b="1"/>
          </a:p>
          <a:p>
            <a:pPr marL="0" lvl="0" indent="0" algn="l" rtl="0">
              <a:lnSpc>
                <a:spcPct val="115000"/>
              </a:lnSpc>
              <a:spcBef>
                <a:spcPts val="1200"/>
              </a:spcBef>
              <a:spcAft>
                <a:spcPts val="0"/>
              </a:spcAft>
              <a:buNone/>
            </a:pPr>
            <a:r>
              <a:rPr lang="en-GB" sz="1700" b="1"/>
              <a:t>H₀</a:t>
            </a:r>
            <a:r>
              <a:rPr lang="en-GB" sz="1700"/>
              <a:t>: No significant difference in loneliness between high and low social frequency groups.</a:t>
            </a:r>
            <a:br>
              <a:rPr lang="en-GB" sz="1700"/>
            </a:br>
            <a:r>
              <a:rPr lang="en-GB" sz="1700" b="1"/>
              <a:t>H₁</a:t>
            </a:r>
            <a:r>
              <a:rPr lang="en-GB" sz="1700"/>
              <a:t>: Significant difference in loneliness between high and low social frequency groups.</a:t>
            </a:r>
            <a:br>
              <a:rPr lang="en-GB" sz="1700"/>
            </a:br>
            <a:r>
              <a:rPr lang="en-GB" sz="1700" b="1"/>
              <a:t>Method</a:t>
            </a:r>
            <a:r>
              <a:rPr lang="en-GB" sz="1700"/>
              <a:t>:Using t-test to compare loneliness scores between the groups.</a:t>
            </a:r>
            <a:endParaRPr sz="1700"/>
          </a:p>
          <a:p>
            <a:pPr marL="0" lvl="0" indent="0" algn="l" rtl="0">
              <a:lnSpc>
                <a:spcPct val="115000"/>
              </a:lnSpc>
              <a:spcBef>
                <a:spcPts val="1200"/>
              </a:spcBef>
              <a:spcAft>
                <a:spcPts val="0"/>
              </a:spcAft>
              <a:buNone/>
            </a:pPr>
            <a:r>
              <a:rPr lang="en-GB" sz="1700" b="1"/>
              <a:t>Results</a:t>
            </a:r>
            <a:r>
              <a:rPr lang="en-GB" sz="1700"/>
              <a:t>: Low group mean: 5.60, High group mean: 5.44.</a:t>
            </a:r>
            <a:endParaRPr sz="1700" b="1"/>
          </a:p>
          <a:p>
            <a:pPr marL="0" lvl="0" indent="0" algn="l" rtl="0">
              <a:lnSpc>
                <a:spcPct val="115000"/>
              </a:lnSpc>
              <a:spcBef>
                <a:spcPts val="1200"/>
              </a:spcBef>
              <a:spcAft>
                <a:spcPts val="1200"/>
              </a:spcAft>
              <a:buNone/>
            </a:pPr>
            <a:r>
              <a:rPr lang="en-GB" sz="1700" b="1"/>
              <a:t>t-statistic</a:t>
            </a:r>
            <a:r>
              <a:rPr lang="en-GB" sz="1700"/>
              <a:t>: 2.36, </a:t>
            </a:r>
            <a:r>
              <a:rPr lang="en-GB" sz="1700" b="1"/>
              <a:t>p-value</a:t>
            </a:r>
            <a:r>
              <a:rPr lang="en-GB" sz="1700"/>
              <a:t>: 0.0183.</a:t>
            </a:r>
            <a:br>
              <a:rPr lang="en-GB" sz="1700"/>
            </a:br>
            <a:r>
              <a:rPr lang="en-GB" sz="1700" b="1"/>
              <a:t>Conclusion</a:t>
            </a:r>
            <a:r>
              <a:rPr lang="en-GB" sz="1700"/>
              <a:t>: p-value &lt; 0.05, reject the null hypothesis.</a:t>
            </a:r>
            <a:br>
              <a:rPr lang="en-GB" sz="1700"/>
            </a:br>
            <a:r>
              <a:rPr lang="en-GB" sz="1700"/>
              <a:t>High social frequency group’s loneliness is significantly lower than low frequency group’s</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pic>
        <p:nvPicPr>
          <p:cNvPr id="150" name="Google Shape;150;p30"/>
          <p:cNvPicPr preferRelativeResize="0"/>
          <p:nvPr/>
        </p:nvPicPr>
        <p:blipFill rotWithShape="1">
          <a:blip r:embed="rId1"/>
          <a:srcRect l="2915" r="5408"/>
          <a:stretch>
            <a:fillRect/>
          </a:stretch>
        </p:blipFill>
        <p:spPr>
          <a:xfrm>
            <a:off x="118125" y="77563"/>
            <a:ext cx="3838839" cy="2571751"/>
          </a:xfrm>
          <a:prstGeom prst="rect">
            <a:avLst/>
          </a:prstGeom>
          <a:noFill/>
          <a:ln>
            <a:noFill/>
          </a:ln>
        </p:spPr>
      </p:pic>
      <p:pic>
        <p:nvPicPr>
          <p:cNvPr id="151" name="Google Shape;151;p30"/>
          <p:cNvPicPr preferRelativeResize="0"/>
          <p:nvPr/>
        </p:nvPicPr>
        <p:blipFill rotWithShape="1">
          <a:blip r:embed="rId2"/>
          <a:srcRect t="19041" r="30743"/>
          <a:stretch>
            <a:fillRect/>
          </a:stretch>
        </p:blipFill>
        <p:spPr>
          <a:xfrm>
            <a:off x="2803200" y="2571750"/>
            <a:ext cx="3537595" cy="2571750"/>
          </a:xfrm>
          <a:prstGeom prst="rect">
            <a:avLst/>
          </a:prstGeom>
          <a:noFill/>
          <a:ln>
            <a:noFill/>
          </a:ln>
        </p:spPr>
      </p:pic>
      <p:pic>
        <p:nvPicPr>
          <p:cNvPr id="152" name="Google Shape;152;p30"/>
          <p:cNvPicPr preferRelativeResize="0"/>
          <p:nvPr/>
        </p:nvPicPr>
        <p:blipFill>
          <a:blip r:embed="rId3"/>
          <a:stretch>
            <a:fillRect/>
          </a:stretch>
        </p:blipFill>
        <p:spPr>
          <a:xfrm>
            <a:off x="4916525" y="83029"/>
            <a:ext cx="3838848" cy="256082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31"/>
          <p:cNvSpPr txBox="1"/>
          <p:nvPr>
            <p:ph type="ctrTitle"/>
          </p:nvPr>
        </p:nvSpPr>
        <p:spPr>
          <a:xfrm>
            <a:off x="311708" y="16287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a:t>Key Variables: </a:t>
            </a:r>
            <a:endParaRPr lang="en-GB"/>
          </a:p>
          <a:p>
            <a:pPr marL="0" lvl="0" indent="0" algn="ctr" rtl="0">
              <a:spcBef>
                <a:spcPts val="0"/>
              </a:spcBef>
              <a:spcAft>
                <a:spcPts val="0"/>
              </a:spcAft>
              <a:buClr>
                <a:schemeClr val="dk1"/>
              </a:buClr>
              <a:buSzPct val="26000"/>
              <a:buFont typeface="Arial" panose="020B0604020202020204"/>
              <a:buNone/>
            </a:pPr>
            <a:r>
              <a:rPr lang="en-GB" sz="4200" i="1"/>
              <a:t>Communication Frequency</a:t>
            </a:r>
            <a:endParaRPr sz="4200" i="1"/>
          </a:p>
          <a:p>
            <a:pPr marL="0" lvl="0" indent="0" algn="ctr" rtl="0">
              <a:spcBef>
                <a:spcPts val="0"/>
              </a:spcBef>
              <a:spcAft>
                <a:spcPts val="0"/>
              </a:spcAft>
              <a:buNone/>
            </a:pPr>
            <a:r>
              <a:rPr lang="en-GB" sz="4200" i="1"/>
              <a:t>Exercise Frequency</a:t>
            </a:r>
            <a:endParaRPr sz="4200" i="1"/>
          </a:p>
        </p:txBody>
      </p:sp>
      <p:sp>
        <p:nvSpPr>
          <p:cNvPr id="158" name="Google Shape;158;p31"/>
          <p:cNvSpPr txBox="1"/>
          <p:nvPr>
            <p:ph type="subTitle" idx="1"/>
          </p:nvPr>
        </p:nvSpPr>
        <p:spPr>
          <a:xfrm>
            <a:off x="311700" y="3681375"/>
            <a:ext cx="8520600" cy="1350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1940"/>
              <a:t>Goal: Use clustering to analyze which variable (talk or exercise) has the most significant impact on loneliness reduction</a:t>
            </a:r>
            <a:endParaRPr sz="1940"/>
          </a:p>
        </p:txBody>
      </p:sp>
      <p:sp>
        <p:nvSpPr>
          <p:cNvPr id="159" name="Google Shape;159;p31"/>
          <p:cNvSpPr txBox="1"/>
          <p:nvPr>
            <p:ph type="ctrTitle"/>
          </p:nvPr>
        </p:nvSpPr>
        <p:spPr>
          <a:xfrm>
            <a:off x="54833" y="47125"/>
            <a:ext cx="8520600" cy="2052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sz="2720" b="1"/>
          </a:p>
          <a:p>
            <a:pPr marL="0" lvl="0" indent="0" algn="ctr" rtl="0">
              <a:spcBef>
                <a:spcPts val="0"/>
              </a:spcBef>
              <a:spcAft>
                <a:spcPts val="0"/>
              </a:spcAft>
              <a:buNone/>
            </a:pPr>
            <a:r>
              <a:rPr lang="en-GB" sz="2720" b="1"/>
              <a:t>3. </a:t>
            </a:r>
            <a:r>
              <a:rPr lang="en-GB" sz="2720" b="1">
                <a:solidFill>
                  <a:schemeClr val="dk2"/>
                </a:solidFill>
              </a:rPr>
              <a:t>What is the most effective method among the methods we identified through question 2?</a:t>
            </a:r>
            <a:endParaRPr sz="2720" b="1">
              <a:solidFill>
                <a:schemeClr val="dk2"/>
              </a:solidFill>
            </a:endParaRPr>
          </a:p>
          <a:p>
            <a:pPr marL="0" lvl="0" indent="0" algn="l" rtl="0">
              <a:spcBef>
                <a:spcPts val="0"/>
              </a:spcBef>
              <a:spcAft>
                <a:spcPts val="0"/>
              </a:spcAft>
              <a:buNone/>
            </a:pP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32"/>
          <p:cNvSpPr txBox="1"/>
          <p:nvPr>
            <p:ph type="ctrTitle"/>
          </p:nvPr>
        </p:nvSpPr>
        <p:spPr>
          <a:xfrm>
            <a:off x="311700" y="70950"/>
            <a:ext cx="8520600" cy="12930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sz="4400"/>
              <a:t>Clustering Approach and Methodology</a:t>
            </a:r>
            <a:endParaRPr sz="4400"/>
          </a:p>
        </p:txBody>
      </p:sp>
      <p:sp>
        <p:nvSpPr>
          <p:cNvPr id="165" name="Google Shape;165;p32"/>
          <p:cNvSpPr txBox="1"/>
          <p:nvPr>
            <p:ph type="subTitle" idx="1"/>
          </p:nvPr>
        </p:nvSpPr>
        <p:spPr>
          <a:xfrm>
            <a:off x="343550" y="1363950"/>
            <a:ext cx="8553600" cy="34125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Clr>
                <a:schemeClr val="dk1"/>
              </a:buClr>
              <a:buSzPts val="605"/>
              <a:buFont typeface="Arial" panose="020B0604020202020204"/>
              <a:buNone/>
            </a:pPr>
            <a:r>
              <a:rPr lang="en-GB" sz="4905"/>
              <a:t>Data Preparation</a:t>
            </a:r>
            <a:endParaRPr sz="4905"/>
          </a:p>
          <a:p>
            <a:pPr marL="0" lvl="0" indent="457200" algn="ctr" rtl="0">
              <a:spcBef>
                <a:spcPts val="0"/>
              </a:spcBef>
              <a:spcAft>
                <a:spcPts val="0"/>
              </a:spcAft>
              <a:buNone/>
            </a:pPr>
            <a:r>
              <a:rPr lang="en-GB"/>
              <a:t>Categorized loneliness scores </a:t>
            </a:r>
            <a:endParaRPr lang="en-GB"/>
          </a:p>
          <a:p>
            <a:pPr marL="0" lvl="0" indent="457200" algn="ctr" rtl="0">
              <a:spcBef>
                <a:spcPts val="0"/>
              </a:spcBef>
              <a:spcAft>
                <a:spcPts val="0"/>
              </a:spcAft>
              <a:buClr>
                <a:schemeClr val="dk1"/>
              </a:buClr>
              <a:buSzPct val="39000"/>
              <a:buFont typeface="Arial" panose="020B0604020202020204"/>
              <a:buNone/>
            </a:pPr>
          </a:p>
          <a:p>
            <a:pPr marL="0" lvl="0" indent="0" algn="ctr" rtl="0">
              <a:spcBef>
                <a:spcPts val="0"/>
              </a:spcBef>
              <a:spcAft>
                <a:spcPts val="0"/>
              </a:spcAft>
              <a:buClr>
                <a:schemeClr val="dk1"/>
              </a:buClr>
              <a:buSzPts val="605"/>
              <a:buFont typeface="Arial" panose="020B0604020202020204"/>
              <a:buNone/>
            </a:pPr>
            <a:r>
              <a:rPr lang="en-GB" sz="4905"/>
              <a:t>Variables analyzed</a:t>
            </a:r>
            <a:endParaRPr sz="4905"/>
          </a:p>
          <a:p>
            <a:pPr marL="0" lvl="0" indent="457200" algn="ctr" rtl="0">
              <a:spcBef>
                <a:spcPts val="0"/>
              </a:spcBef>
              <a:spcAft>
                <a:spcPts val="0"/>
              </a:spcAft>
              <a:buClr>
                <a:schemeClr val="dk1"/>
              </a:buClr>
              <a:buSzPct val="39000"/>
              <a:buFont typeface="Arial" panose="020B0604020202020204"/>
              <a:buNone/>
            </a:pPr>
            <a:r>
              <a:rPr lang="en-GB"/>
              <a:t>Talk frequency (CONNECTION_activities_talked_day_p3m)</a:t>
            </a:r>
            <a:endParaRPr lang="en-GB"/>
          </a:p>
          <a:p>
            <a:pPr marL="0" lvl="0" indent="457200" algn="ctr" rtl="0">
              <a:spcBef>
                <a:spcPts val="0"/>
              </a:spcBef>
              <a:spcAft>
                <a:spcPts val="0"/>
              </a:spcAft>
              <a:buClr>
                <a:schemeClr val="dk1"/>
              </a:buClr>
              <a:buSzPct val="39000"/>
              <a:buFont typeface="Arial" panose="020B0604020202020204"/>
              <a:buNone/>
            </a:pPr>
            <a:r>
              <a:rPr lang="en-GB"/>
              <a:t>Exercise frequency (CONNECTION_activities_group_exercise_p3m)</a:t>
            </a:r>
            <a:endParaRPr lang="en-GB"/>
          </a:p>
          <a:p>
            <a:pPr marL="0" lvl="0" indent="457200" algn="ctr" rtl="0">
              <a:spcBef>
                <a:spcPts val="0"/>
              </a:spcBef>
              <a:spcAft>
                <a:spcPts val="0"/>
              </a:spcAft>
              <a:buNone/>
            </a:pPr>
            <a:r>
              <a:rPr lang="en-GB"/>
              <a:t>Used PCA to reduce Dimensions</a:t>
            </a:r>
            <a:endParaRPr lang="en-GB"/>
          </a:p>
          <a:p>
            <a:pPr marL="0" lvl="0" indent="457200" algn="ctr" rtl="0">
              <a:spcBef>
                <a:spcPts val="0"/>
              </a:spcBef>
              <a:spcAft>
                <a:spcPts val="0"/>
              </a:spcAft>
              <a:buClr>
                <a:schemeClr val="dk1"/>
              </a:buClr>
              <a:buSzPct val="39000"/>
              <a:buFont typeface="Arial" panose="020B0604020202020204"/>
              <a:buNone/>
            </a:pPr>
          </a:p>
          <a:p>
            <a:pPr marL="0" lvl="0" indent="0" algn="ctr" rtl="0">
              <a:spcBef>
                <a:spcPts val="0"/>
              </a:spcBef>
              <a:spcAft>
                <a:spcPts val="0"/>
              </a:spcAft>
              <a:buClr>
                <a:schemeClr val="dk1"/>
              </a:buClr>
              <a:buSzPts val="605"/>
              <a:buFont typeface="Arial" panose="020B0604020202020204"/>
              <a:buNone/>
            </a:pPr>
            <a:r>
              <a:rPr lang="en-GB" sz="4800"/>
              <a:t>Clustering Method</a:t>
            </a:r>
            <a:endParaRPr sz="4800"/>
          </a:p>
          <a:p>
            <a:pPr marL="0" lvl="0" indent="0" algn="ctr" rtl="0">
              <a:spcBef>
                <a:spcPts val="0"/>
              </a:spcBef>
              <a:spcAft>
                <a:spcPts val="0"/>
              </a:spcAft>
              <a:buClr>
                <a:schemeClr val="dk1"/>
              </a:buClr>
              <a:buSzPct val="39000"/>
              <a:buFont typeface="Arial" panose="020B0604020202020204"/>
              <a:buNone/>
            </a:pPr>
            <a:r>
              <a:rPr lang="en-GB"/>
              <a:t>Applied K-Means Clustering to group individuals based on:</a:t>
            </a:r>
            <a:endParaRPr lang="en-GB"/>
          </a:p>
          <a:p>
            <a:pPr marL="457200" lvl="0" indent="0" algn="ctr" rtl="0">
              <a:spcBef>
                <a:spcPts val="0"/>
              </a:spcBef>
              <a:spcAft>
                <a:spcPts val="0"/>
              </a:spcAft>
              <a:buClr>
                <a:schemeClr val="dk1"/>
              </a:buClr>
              <a:buSzPct val="39000"/>
              <a:buFont typeface="Arial" panose="020B0604020202020204"/>
              <a:buNone/>
            </a:pPr>
            <a:r>
              <a:rPr lang="en-GB"/>
              <a:t>Loneliness scores</a:t>
            </a:r>
            <a:endParaRPr lang="en-GB"/>
          </a:p>
          <a:p>
            <a:pPr marL="457200" lvl="0" indent="0" algn="ctr" rtl="0">
              <a:spcBef>
                <a:spcPts val="0"/>
              </a:spcBef>
              <a:spcAft>
                <a:spcPts val="0"/>
              </a:spcAft>
              <a:buClr>
                <a:schemeClr val="dk1"/>
              </a:buClr>
              <a:buSzPct val="39000"/>
              <a:buFont typeface="Arial" panose="020B0604020202020204"/>
              <a:buNone/>
            </a:pPr>
            <a:r>
              <a:rPr lang="en-GB"/>
              <a:t>Talk frequency</a:t>
            </a:r>
            <a:endParaRPr lang="en-GB"/>
          </a:p>
          <a:p>
            <a:pPr marL="457200" lvl="0" indent="0" algn="ctr" rtl="0">
              <a:spcBef>
                <a:spcPts val="0"/>
              </a:spcBef>
              <a:spcAft>
                <a:spcPts val="0"/>
              </a:spcAft>
              <a:buClr>
                <a:schemeClr val="dk1"/>
              </a:buClr>
              <a:buSzPct val="39000"/>
              <a:buFont typeface="Arial" panose="020B0604020202020204"/>
              <a:buNone/>
            </a:pPr>
            <a:r>
              <a:rPr lang="en-GB"/>
              <a:t>Exercise frequency</a:t>
            </a:r>
            <a:endParaRPr lang="en-GB"/>
          </a:p>
          <a:p>
            <a:pPr marL="457200" lvl="0" indent="0" algn="ctr" rtl="0">
              <a:spcBef>
                <a:spcPts val="0"/>
              </a:spcBef>
              <a:spcAft>
                <a:spcPts val="0"/>
              </a:spcAft>
              <a:buNone/>
            </a:pPr>
            <a:r>
              <a:rPr lang="en-GB"/>
              <a:t>Determined optimal clusters visually and through mean analysis.</a:t>
            </a:r>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33"/>
          <p:cNvSpPr txBox="1"/>
          <p:nvPr>
            <p:ph type="ctrTitle"/>
          </p:nvPr>
        </p:nvSpPr>
        <p:spPr>
          <a:xfrm>
            <a:off x="311700" y="78925"/>
            <a:ext cx="8520600" cy="974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a:t>Clustering Results</a:t>
            </a:r>
            <a:endParaRPr lang="en-GB"/>
          </a:p>
        </p:txBody>
      </p:sp>
      <p:sp>
        <p:nvSpPr>
          <p:cNvPr id="171" name="Google Shape;171;p33"/>
          <p:cNvSpPr txBox="1"/>
          <p:nvPr>
            <p:ph type="subTitle" idx="1"/>
          </p:nvPr>
        </p:nvSpPr>
        <p:spPr>
          <a:xfrm>
            <a:off x="311700" y="1002525"/>
            <a:ext cx="4126800" cy="3909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GB" sz="3650"/>
              <a:t>Cluster 0</a:t>
            </a:r>
            <a:endParaRPr sz="3650"/>
          </a:p>
          <a:p>
            <a:pPr marL="0" lvl="0" indent="0" algn="l" rtl="0">
              <a:spcBef>
                <a:spcPts val="0"/>
              </a:spcBef>
              <a:spcAft>
                <a:spcPts val="0"/>
              </a:spcAft>
              <a:buNone/>
            </a:pPr>
            <a:r>
              <a:rPr lang="en-GB"/>
              <a:t>Moderate loneliness.</a:t>
            </a:r>
            <a:endParaRPr lang="en-GB"/>
          </a:p>
          <a:p>
            <a:pPr marL="0" lvl="0" indent="0" algn="l" rtl="0">
              <a:spcBef>
                <a:spcPts val="0"/>
              </a:spcBef>
              <a:spcAft>
                <a:spcPts val="0"/>
              </a:spcAft>
              <a:buNone/>
            </a:pPr>
            <a:r>
              <a:rPr lang="en-GB"/>
              <a:t>Moderate talk frequency and low exercise frequency.</a:t>
            </a:r>
            <a:endParaRPr lang="en-GB"/>
          </a:p>
          <a:p>
            <a:pPr marL="0" lvl="0" indent="0" algn="l" rtl="0">
              <a:spcBef>
                <a:spcPts val="0"/>
              </a:spcBef>
              <a:spcAft>
                <a:spcPts val="0"/>
              </a:spcAft>
              <a:buNone/>
            </a:pPr>
          </a:p>
          <a:p>
            <a:pPr marL="0" lvl="0" indent="0" algn="l" rtl="0">
              <a:spcBef>
                <a:spcPts val="0"/>
              </a:spcBef>
              <a:spcAft>
                <a:spcPts val="0"/>
              </a:spcAft>
              <a:buNone/>
            </a:pPr>
            <a:r>
              <a:rPr lang="en-GB" sz="3650"/>
              <a:t>Cluster 1</a:t>
            </a:r>
            <a:endParaRPr sz="3650"/>
          </a:p>
          <a:p>
            <a:pPr marL="0" lvl="0" indent="0" algn="l" rtl="0">
              <a:spcBef>
                <a:spcPts val="0"/>
              </a:spcBef>
              <a:spcAft>
                <a:spcPts val="0"/>
              </a:spcAft>
              <a:buNone/>
            </a:pPr>
            <a:r>
              <a:rPr lang="en-GB"/>
              <a:t>High loneliness.</a:t>
            </a:r>
            <a:endParaRPr lang="en-GB"/>
          </a:p>
          <a:p>
            <a:pPr marL="0" lvl="0" indent="0" algn="l" rtl="0">
              <a:spcBef>
                <a:spcPts val="0"/>
              </a:spcBef>
              <a:spcAft>
                <a:spcPts val="0"/>
              </a:spcAft>
              <a:buNone/>
            </a:pPr>
            <a:r>
              <a:rPr lang="en-GB"/>
              <a:t>Daily social interaction but very low exercise.</a:t>
            </a:r>
            <a:endParaRPr lang="en-GB"/>
          </a:p>
          <a:p>
            <a:pPr marL="0" lvl="0" indent="0" algn="l" rtl="0">
              <a:spcBef>
                <a:spcPts val="0"/>
              </a:spcBef>
              <a:spcAft>
                <a:spcPts val="0"/>
              </a:spcAft>
              <a:buNone/>
            </a:pPr>
          </a:p>
          <a:p>
            <a:pPr marL="0" lvl="0" indent="0" algn="l" rtl="0">
              <a:spcBef>
                <a:spcPts val="0"/>
              </a:spcBef>
              <a:spcAft>
                <a:spcPts val="0"/>
              </a:spcAft>
              <a:buNone/>
            </a:pPr>
            <a:r>
              <a:rPr lang="en-GB" sz="3650"/>
              <a:t>Cluster 2</a:t>
            </a:r>
            <a:endParaRPr sz="3650"/>
          </a:p>
          <a:p>
            <a:pPr marL="0" lvl="0" indent="0" algn="l" rtl="0">
              <a:spcBef>
                <a:spcPts val="0"/>
              </a:spcBef>
              <a:spcAft>
                <a:spcPts val="0"/>
              </a:spcAft>
              <a:buNone/>
            </a:pPr>
            <a:r>
              <a:rPr lang="en-GB"/>
              <a:t>Low loneliness.</a:t>
            </a:r>
            <a:endParaRPr lang="en-GB"/>
          </a:p>
          <a:p>
            <a:pPr marL="0" lvl="0" indent="0" algn="l" rtl="0">
              <a:spcBef>
                <a:spcPts val="0"/>
              </a:spcBef>
              <a:spcAft>
                <a:spcPts val="0"/>
              </a:spcAft>
              <a:buNone/>
            </a:pPr>
            <a:r>
              <a:rPr lang="en-GB"/>
              <a:t>High talk and exercise frequency.</a:t>
            </a:r>
            <a:endParaRPr lang="en-GB"/>
          </a:p>
        </p:txBody>
      </p:sp>
      <p:pic>
        <p:nvPicPr>
          <p:cNvPr id="172" name="Google Shape;172;p33"/>
          <p:cNvPicPr preferRelativeResize="0"/>
          <p:nvPr/>
        </p:nvPicPr>
        <p:blipFill>
          <a:blip r:embed="rId1"/>
          <a:stretch>
            <a:fillRect/>
          </a:stretch>
        </p:blipFill>
        <p:spPr>
          <a:xfrm>
            <a:off x="4572000" y="990050"/>
            <a:ext cx="4484451" cy="391001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sp>
        <p:nvSpPr>
          <p:cNvPr id="177" name="Google Shape;177;p34"/>
          <p:cNvSpPr txBox="1"/>
          <p:nvPr>
            <p:ph type="ctrTitle"/>
          </p:nvPr>
        </p:nvSpPr>
        <p:spPr>
          <a:xfrm>
            <a:off x="311708" y="16332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Key Takeaways and Recommendations</a:t>
            </a:r>
            <a:endParaRPr lang="en-GB"/>
          </a:p>
        </p:txBody>
      </p:sp>
      <p:sp>
        <p:nvSpPr>
          <p:cNvPr id="178" name="Google Shape;178;p34"/>
          <p:cNvSpPr txBox="1"/>
          <p:nvPr>
            <p:ph type="subTitle" idx="1"/>
          </p:nvPr>
        </p:nvSpPr>
        <p:spPr>
          <a:xfrm>
            <a:off x="311700" y="2268475"/>
            <a:ext cx="8520600" cy="2786700"/>
          </a:xfrm>
          <a:prstGeom prst="rect">
            <a:avLst/>
          </a:prstGeom>
        </p:spPr>
        <p:txBody>
          <a:bodyPr spcFirstLastPara="1" wrap="square" lIns="91425" tIns="91425" rIns="91425" bIns="91425" anchor="t" anchorCtr="0">
            <a:normAutofit fontScale="70000" lnSpcReduction="10000"/>
          </a:bodyPr>
          <a:lstStyle/>
          <a:p>
            <a:pPr marL="0" lvl="0" indent="0" algn="ctr" rtl="0">
              <a:spcBef>
                <a:spcPts val="0"/>
              </a:spcBef>
              <a:spcAft>
                <a:spcPts val="0"/>
              </a:spcAft>
              <a:buClr>
                <a:schemeClr val="dk1"/>
              </a:buClr>
              <a:buSzPct val="39000"/>
              <a:buFont typeface="Arial" panose="020B0604020202020204"/>
              <a:buNone/>
            </a:pPr>
            <a:r>
              <a:rPr lang="en-GB"/>
              <a:t>Exercise is slightly more impactful than social interaction alone in reducing loneliness.</a:t>
            </a:r>
            <a:endParaRPr lang="en-GB"/>
          </a:p>
          <a:p>
            <a:pPr marL="0" lvl="0" indent="0" algn="ctr" rtl="0">
              <a:spcBef>
                <a:spcPts val="0"/>
              </a:spcBef>
              <a:spcAft>
                <a:spcPts val="0"/>
              </a:spcAft>
              <a:buClr>
                <a:schemeClr val="dk1"/>
              </a:buClr>
              <a:buSzPct val="39000"/>
              <a:buFont typeface="Arial" panose="020B0604020202020204"/>
              <a:buNone/>
            </a:pPr>
            <a:r>
              <a:rPr lang="en-GB"/>
              <a:t>The combination of both high exercise and social interaction frequency results in the lowest loneliness scores.</a:t>
            </a:r>
            <a:endParaRPr lang="en-GB"/>
          </a:p>
          <a:p>
            <a:pPr marL="0" lvl="0" indent="0" algn="ctr" rtl="0">
              <a:spcBef>
                <a:spcPts val="0"/>
              </a:spcBef>
              <a:spcAft>
                <a:spcPts val="0"/>
              </a:spcAft>
              <a:buClr>
                <a:schemeClr val="dk1"/>
              </a:buClr>
              <a:buSzPct val="39000"/>
              <a:buFont typeface="Arial" panose="020B0604020202020204"/>
              <a:buNone/>
            </a:pPr>
          </a:p>
          <a:p>
            <a:pPr marL="0" lvl="0" indent="0" algn="ctr" rtl="0">
              <a:spcBef>
                <a:spcPts val="0"/>
              </a:spcBef>
              <a:spcAft>
                <a:spcPts val="0"/>
              </a:spcAft>
              <a:buClr>
                <a:schemeClr val="dk1"/>
              </a:buClr>
              <a:buSzPct val="39000"/>
              <a:buFont typeface="Arial" panose="020B0604020202020204"/>
              <a:buNone/>
            </a:pPr>
            <a:r>
              <a:rPr lang="en-GB"/>
              <a:t>Encourage interventions that promote both physical activity and regular social interaction.</a:t>
            </a:r>
            <a:endParaRPr lang="en-GB"/>
          </a:p>
          <a:p>
            <a:pPr marL="0" lvl="0" indent="0" algn="ctr" rtl="0">
              <a:spcBef>
                <a:spcPts val="0"/>
              </a:spcBef>
              <a:spcAft>
                <a:spcPts val="0"/>
              </a:spcAft>
              <a:buClr>
                <a:schemeClr val="dk1"/>
              </a:buClr>
              <a:buSzPct val="39000"/>
              <a:buFont typeface="Arial" panose="020B0604020202020204"/>
              <a:buNone/>
            </a:pPr>
            <a:r>
              <a:rPr lang="en-GB"/>
              <a:t>Focus resources on combined methods rather than individual strategies</a:t>
            </a:r>
            <a:endParaRPr lang="en-GB"/>
          </a:p>
          <a:p>
            <a:pPr marL="0" lvl="0" indent="0" algn="ctr" rtl="0">
              <a:spcBef>
                <a:spcPts val="0"/>
              </a:spcBef>
              <a:spcAft>
                <a:spcPts val="0"/>
              </a:spcAft>
              <a:buNone/>
            </a:p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720" b="1"/>
              <a:t>Overall </a:t>
            </a:r>
            <a:r>
              <a:rPr lang="en-GB" sz="2720" b="1"/>
              <a:t>Summary</a:t>
            </a:r>
            <a:endParaRPr sz="2720" b="1"/>
          </a:p>
        </p:txBody>
      </p:sp>
      <p:sp>
        <p:nvSpPr>
          <p:cNvPr id="184" name="Google Shape;184;p35"/>
          <p:cNvSpPr txBox="1"/>
          <p:nvPr/>
        </p:nvSpPr>
        <p:spPr>
          <a:xfrm>
            <a:off x="288150" y="1123800"/>
            <a:ext cx="8414100" cy="381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85" name="Google Shape;185;p35"/>
          <p:cNvSpPr txBox="1"/>
          <p:nvPr/>
        </p:nvSpPr>
        <p:spPr>
          <a:xfrm>
            <a:off x="311700" y="1017725"/>
            <a:ext cx="522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2"/>
                </a:solidFill>
              </a:rPr>
              <a:t>Pets? </a:t>
            </a:r>
            <a:r>
              <a:rPr lang="en-GB" sz="1800">
                <a:solidFill>
                  <a:schemeClr val="dk2"/>
                </a:solidFill>
              </a:rPr>
              <a:t>Exercise, communication..?</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89" name="Shape 189"/>
        <p:cNvGrpSpPr/>
        <p:nvPr/>
      </p:nvGrpSpPr>
      <p:grpSpPr>
        <a:xfrm>
          <a:off x="0" y="0"/>
          <a:ext cx="0" cy="0"/>
          <a:chOff x="0" y="0"/>
          <a:chExt cx="0" cy="0"/>
        </a:xfrm>
      </p:grpSpPr>
      <p:sp>
        <p:nvSpPr>
          <p:cNvPr id="190" name="Google Shape;190;p36"/>
          <p:cNvSpPr txBox="1"/>
          <p:nvPr>
            <p:ph type="ctrTitle"/>
          </p:nvPr>
        </p:nvSpPr>
        <p:spPr>
          <a:xfrm>
            <a:off x="376425" y="484175"/>
            <a:ext cx="8520600" cy="792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3900"/>
              <a:t>Limitation:</a:t>
            </a:r>
            <a:endParaRPr sz="3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37"/>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820"/>
              <a:t>Thanks for listening</a:t>
            </a:r>
            <a:endParaRPr sz="2820"/>
          </a:p>
          <a:p>
            <a:pPr marL="0" lvl="0" indent="0" algn="l" rtl="0">
              <a:spcBef>
                <a:spcPts val="0"/>
              </a:spcBef>
              <a:spcAft>
                <a:spcPts val="0"/>
              </a:spcAft>
              <a:buSzPts val="990"/>
              <a:buNone/>
            </a:pPr>
            <a:endParaRPr sz="2820"/>
          </a:p>
          <a:p>
            <a:pPr marL="457200" lvl="0" indent="-295275" algn="l" rtl="0">
              <a:lnSpc>
                <a:spcPct val="115000"/>
              </a:lnSpc>
              <a:spcBef>
                <a:spcPts val="1100"/>
              </a:spcBef>
              <a:spcAft>
                <a:spcPts val="0"/>
              </a:spcAft>
              <a:buSzPts val="1050"/>
              <a:buChar char="●"/>
            </a:pPr>
            <a:r>
              <a:rPr lang="en-GB" sz="1050">
                <a:highlight>
                  <a:srgbClr val="FFFFFF"/>
                </a:highlight>
              </a:rPr>
              <a:t>Acknowledgements</a:t>
            </a:r>
            <a:endParaRPr sz="1050">
              <a:highlight>
                <a:srgbClr val="FFFFFF"/>
              </a:highlight>
            </a:endParaRPr>
          </a:p>
          <a:p>
            <a:pPr marL="457200" lvl="0" indent="-295275" algn="l" rtl="0">
              <a:lnSpc>
                <a:spcPct val="115000"/>
              </a:lnSpc>
              <a:spcBef>
                <a:spcPts val="0"/>
              </a:spcBef>
              <a:spcAft>
                <a:spcPts val="0"/>
              </a:spcAft>
              <a:buSzPts val="1050"/>
              <a:buChar char="●"/>
            </a:pPr>
            <a:r>
              <a:rPr lang="en-GB" sz="1050">
                <a:highlight>
                  <a:srgbClr val="FFFFFF"/>
                </a:highlight>
              </a:rPr>
              <a:t>Thank Prof Scott, Dr. Kiffer Card and Christine Ovcaric for creating and identifying this project for you... probabably our TUT TA Yu Shi and all our peers.</a:t>
            </a:r>
            <a:endParaRPr sz="1050">
              <a:highlight>
                <a:srgbClr val="FFFFFF"/>
              </a:highlight>
            </a:endParaRPr>
          </a:p>
          <a:p>
            <a:pPr marL="0" lvl="0" indent="0" algn="l" rtl="0">
              <a:spcBef>
                <a:spcPts val="1100"/>
              </a:spcBef>
              <a:spcAft>
                <a:spcPts val="0"/>
              </a:spcAft>
              <a:buSzPts val="990"/>
              <a:buNone/>
            </a:pPr>
            <a:endParaRPr sz="2820" b="1"/>
          </a:p>
          <a:p>
            <a:pPr marL="0" lvl="0" indent="0" algn="l" rtl="0">
              <a:spcBef>
                <a:spcPts val="0"/>
              </a:spcBef>
              <a:spcAft>
                <a:spcPts val="0"/>
              </a:spcAft>
              <a:buSzPts val="990"/>
              <a:buNone/>
            </a:pPr>
            <a:endParaRPr sz="2820"/>
          </a:p>
          <a:p>
            <a:pPr marL="0" lvl="0" indent="0" algn="l" rtl="0">
              <a:spcBef>
                <a:spcPts val="0"/>
              </a:spcBef>
              <a:spcAft>
                <a:spcPts val="0"/>
              </a:spcAft>
              <a:buSzPts val="990"/>
              <a:buNone/>
            </a:pPr>
            <a:endParaRPr sz="282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7790</Words>
  <Application>WPS 文字</Application>
  <PresentationFormat/>
  <Paragraphs>186</Paragraphs>
  <Slides>25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宋体</vt:lpstr>
      <vt:lpstr>Wingdings</vt:lpstr>
      <vt:lpstr>Arial</vt:lpstr>
      <vt:lpstr>Times</vt:lpstr>
      <vt:lpstr>Helvetica Neue</vt:lpstr>
      <vt:lpstr>微软雅黑</vt:lpstr>
      <vt:lpstr>汉仪旗黑</vt:lpstr>
      <vt:lpstr>宋体</vt:lpstr>
      <vt:lpstr>Arial Unicode MS</vt:lpstr>
      <vt:lpstr>宋体-简</vt:lpstr>
      <vt:lpstr>Simple Light</vt:lpstr>
      <vt:lpstr>PowerPoint 演示文稿</vt:lpstr>
      <vt:lpstr>Introduction</vt:lpstr>
      <vt:lpstr>PowerPoint 演示文稿</vt:lpstr>
      <vt:lpstr>PowerPoint 演示文稿</vt:lpstr>
      <vt:lpstr>If they had at least one cat or one dog, we recorded it as yes; otherwise, it was recorded as no in a new column called Pet_or_no. </vt:lpstr>
      <vt:lpstr> What types of people tend to feel more lonely?</vt:lpstr>
      <vt:lpstr>Goal: Identify people in need of help</vt:lpstr>
      <vt:lpstr>Method: Decision Tree</vt:lpstr>
      <vt:lpstr>Variables we choose</vt:lpstr>
      <vt:lpstr>The Approach</vt:lpstr>
      <vt:lpstr>PowerPoint 演示文稿</vt:lpstr>
      <vt:lpstr>Results Analysis</vt:lpstr>
      <vt:lpstr>Evaluation of the model and further thoughts</vt:lpstr>
      <vt:lpstr>PowerPoint 演示文稿</vt:lpstr>
      <vt:lpstr>PowerPoint 演示文稿</vt:lpstr>
      <vt:lpstr>Conclusion: Fail to reject the null hypothesis. </vt:lpstr>
      <vt:lpstr>t-statistic: 2.36, p-value: 0.0183. Conclusion: p-value &lt; 0.05, reject the null hypothesis. High social frequency group’s loneliness is significantly lower than low frequency group’s</vt:lpstr>
      <vt:lpstr>PowerPoint 演示文稿</vt:lpstr>
      <vt:lpstr>3. What is the most effective method among the methods we identified through question 2?</vt:lpstr>
      <vt:lpstr>Clustering Approach and Methodology</vt:lpstr>
      <vt:lpstr>Clustering Results</vt:lpstr>
      <vt:lpstr>Key Takeaways and Recommendations</vt:lpstr>
      <vt:lpstr>Overall Summary</vt:lpstr>
      <vt:lpstr>Limitation:</vt:lpstr>
      <vt:lpstr>Thank Prof Scott, Dr. Kiffer Card and Christine Ovcaric for creating and identifying this project for you... probabably our TUT TA Yu Shi and all our peers.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lymious</cp:lastModifiedBy>
  <cp:revision>2</cp:revision>
  <dcterms:created xsi:type="dcterms:W3CDTF">2024-12-03T00:50:00Z</dcterms:created>
  <dcterms:modified xsi:type="dcterms:W3CDTF">2024-12-03T00:50:00Z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2052-5.7.3.8096</vt:lpwstr>
  </property>
</Properties>
</file>